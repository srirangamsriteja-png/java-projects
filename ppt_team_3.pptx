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65" r:id="rId4"/>
    <p:sldId id="258" r:id="rId5"/>
    <p:sldId id="259" r:id="rId6"/>
    <p:sldId id="260" r:id="rId7"/>
    <p:sldId id="261" r:id="rId8"/>
    <p:sldId id="262" r:id="rId9"/>
    <p:sldId id="263" r:id="rId10"/>
  </p:sldIdLst>
  <p:sldSz cx="12192000" cy="6858000"/>
  <p:notesSz cx="6858000" cy="12192000"/>
  <p:embeddedFontLst>
    <p:embeddedFont>
      <p:font typeface="Consolas" panose="020B0609020204030204" pitchFamily="49" charset="0"/>
      <p:regular r:id="rId12"/>
      <p:bold r:id="rId13"/>
      <p:italic r:id="rId14"/>
      <p:boldItalic r:id="rId15"/>
    </p:embeddedFont>
    <p:embeddedFont>
      <p:font typeface="Inter" panose="020B0604020202020204" charset="0"/>
      <p:regular r:id="rId16"/>
    </p:embeddedFont>
    <p:embeddedFont>
      <p:font typeface="Inter Bold" panose="020B0604020202020204" charset="0"/>
      <p:regular r:id="rId17"/>
    </p:embeddedFont>
    <p:embeddedFont>
      <p:font typeface="Petrona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48" autoAdjust="0"/>
    <p:restoredTop sz="94610"/>
  </p:normalViewPr>
  <p:slideViewPr>
    <p:cSldViewPr snapToGrid="0" snapToObjects="1">
      <p:cViewPr varScale="1">
        <p:scale>
          <a:sx n="89" d="100"/>
          <a:sy n="89" d="100"/>
        </p:scale>
        <p:origin x="1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adeep Reddy Gurijala" userId="43955e30fca51142" providerId="LiveId" clId="{0194643F-938C-4D9B-B61D-13A0C14C4621}"/>
    <pc:docChg chg="undo custSel addSld delSld modSld sldOrd modMainMaster">
      <pc:chgData name="Navadeep Reddy Gurijala" userId="43955e30fca51142" providerId="LiveId" clId="{0194643F-938C-4D9B-B61D-13A0C14C4621}" dt="2026-09-23T03:02:57.692" v="61"/>
      <pc:docMkLst>
        <pc:docMk/>
      </pc:docMkLst>
      <pc:sldChg chg="addSp delSp modSp mod modTransition">
        <pc:chgData name="Navadeep Reddy Gurijala" userId="43955e30fca51142" providerId="LiveId" clId="{0194643F-938C-4D9B-B61D-13A0C14C4621}" dt="2026-09-22T02:47:38.595" v="59"/>
        <pc:sldMkLst>
          <pc:docMk/>
          <pc:sldMk cId="0" sldId="256"/>
        </pc:sldMkLst>
        <pc:spChg chg="mod">
          <ac:chgData name="Navadeep Reddy Gurijala" userId="43955e30fca51142" providerId="LiveId" clId="{0194643F-938C-4D9B-B61D-13A0C14C4621}" dt="2026-09-21T15:00:34.144" v="17" actId="14100"/>
          <ac:spMkLst>
            <pc:docMk/>
            <pc:sldMk cId="0" sldId="256"/>
            <ac:spMk id="3" creationId="{00000000-0000-0000-0000-000000000000}"/>
          </ac:spMkLst>
        </pc:spChg>
        <pc:spChg chg="mod">
          <ac:chgData name="Navadeep Reddy Gurijala" userId="43955e30fca51142" providerId="LiveId" clId="{0194643F-938C-4D9B-B61D-13A0C14C4621}" dt="2026-09-21T15:00:50.387" v="18" actId="255"/>
          <ac:spMkLst>
            <pc:docMk/>
            <pc:sldMk cId="0" sldId="256"/>
            <ac:spMk id="4" creationId="{00000000-0000-0000-0000-000000000000}"/>
          </ac:spMkLst>
        </pc:spChg>
        <pc:spChg chg="mod">
          <ac:chgData name="Navadeep Reddy Gurijala" userId="43955e30fca51142" providerId="LiveId" clId="{0194643F-938C-4D9B-B61D-13A0C14C4621}" dt="2026-09-21T15:01:52.376" v="42" actId="20577"/>
          <ac:spMkLst>
            <pc:docMk/>
            <pc:sldMk cId="0" sldId="256"/>
            <ac:spMk id="5" creationId="{00000000-0000-0000-0000-000000000000}"/>
          </ac:spMkLst>
        </pc:spChg>
        <pc:spChg chg="mod">
          <ac:chgData name="Navadeep Reddy Gurijala" userId="43955e30fca51142" providerId="LiveId" clId="{0194643F-938C-4D9B-B61D-13A0C14C4621}" dt="2026-09-21T14:50:30.329" v="10" actId="14100"/>
          <ac:spMkLst>
            <pc:docMk/>
            <pc:sldMk cId="0" sldId="256"/>
            <ac:spMk id="11" creationId="{8E6CE990-9A95-0D80-75E6-EA5ED05C63FD}"/>
          </ac:spMkLst>
        </pc:spChg>
        <pc:picChg chg="mod">
          <ac:chgData name="Navadeep Reddy Gurijala" userId="43955e30fca51142" providerId="LiveId" clId="{0194643F-938C-4D9B-B61D-13A0C14C4621}" dt="2026-09-21T14:53:11.054" v="15" actId="339"/>
          <ac:picMkLst>
            <pc:docMk/>
            <pc:sldMk cId="0" sldId="256"/>
            <ac:picMk id="2" creationId="{00000000-0000-0000-0000-000000000000}"/>
          </ac:picMkLst>
        </pc:picChg>
      </pc:sldChg>
      <pc:sldChg chg="ord modTransition">
        <pc:chgData name="Navadeep Reddy Gurijala" userId="43955e30fca51142" providerId="LiveId" clId="{0194643F-938C-4D9B-B61D-13A0C14C4621}" dt="2026-09-23T03:02:57.692" v="61"/>
        <pc:sldMkLst>
          <pc:docMk/>
          <pc:sldMk cId="0" sldId="257"/>
        </pc:sldMkLst>
      </pc:sldChg>
      <pc:sldChg chg="modTransition">
        <pc:chgData name="Navadeep Reddy Gurijala" userId="43955e30fca51142" providerId="LiveId" clId="{0194643F-938C-4D9B-B61D-13A0C14C4621}" dt="2026-09-22T02:47:38.595" v="59"/>
        <pc:sldMkLst>
          <pc:docMk/>
          <pc:sldMk cId="0" sldId="258"/>
        </pc:sldMkLst>
      </pc:sldChg>
      <pc:sldChg chg="modTransition">
        <pc:chgData name="Navadeep Reddy Gurijala" userId="43955e30fca51142" providerId="LiveId" clId="{0194643F-938C-4D9B-B61D-13A0C14C4621}" dt="2026-09-22T02:47:38.595" v="59"/>
        <pc:sldMkLst>
          <pc:docMk/>
          <pc:sldMk cId="0" sldId="259"/>
        </pc:sldMkLst>
      </pc:sldChg>
      <pc:sldChg chg="modTransition">
        <pc:chgData name="Navadeep Reddy Gurijala" userId="43955e30fca51142" providerId="LiveId" clId="{0194643F-938C-4D9B-B61D-13A0C14C4621}" dt="2026-09-22T02:47:38.595" v="59"/>
        <pc:sldMkLst>
          <pc:docMk/>
          <pc:sldMk cId="0" sldId="260"/>
        </pc:sldMkLst>
      </pc:sldChg>
      <pc:sldChg chg="modTransition">
        <pc:chgData name="Navadeep Reddy Gurijala" userId="43955e30fca51142" providerId="LiveId" clId="{0194643F-938C-4D9B-B61D-13A0C14C4621}" dt="2026-09-22T02:47:38.595" v="59"/>
        <pc:sldMkLst>
          <pc:docMk/>
          <pc:sldMk cId="0" sldId="261"/>
        </pc:sldMkLst>
      </pc:sldChg>
      <pc:sldChg chg="modTransition">
        <pc:chgData name="Navadeep Reddy Gurijala" userId="43955e30fca51142" providerId="LiveId" clId="{0194643F-938C-4D9B-B61D-13A0C14C4621}" dt="2026-09-22T02:47:38.595" v="59"/>
        <pc:sldMkLst>
          <pc:docMk/>
          <pc:sldMk cId="0" sldId="262"/>
        </pc:sldMkLst>
      </pc:sldChg>
      <pc:sldChg chg="modTransition">
        <pc:chgData name="Navadeep Reddy Gurijala" userId="43955e30fca51142" providerId="LiveId" clId="{0194643F-938C-4D9B-B61D-13A0C14C4621}" dt="2026-09-22T02:47:38.595" v="59"/>
        <pc:sldMkLst>
          <pc:docMk/>
          <pc:sldMk cId="0" sldId="263"/>
        </pc:sldMkLst>
      </pc:sldChg>
      <pc:sldChg chg="addSp delSp modSp del mod">
        <pc:chgData name="Navadeep Reddy Gurijala" userId="43955e30fca51142" providerId="LiveId" clId="{0194643F-938C-4D9B-B61D-13A0C14C4621}" dt="2026-09-22T02:46:51.189" v="47" actId="47"/>
        <pc:sldMkLst>
          <pc:docMk/>
          <pc:sldMk cId="3679843005" sldId="264"/>
        </pc:sldMkLst>
        <pc:spChg chg="add del mod">
          <ac:chgData name="Navadeep Reddy Gurijala" userId="43955e30fca51142" providerId="LiveId" clId="{0194643F-938C-4D9B-B61D-13A0C14C4621}" dt="2026-09-22T02:46:44.728" v="45"/>
          <ac:spMkLst>
            <pc:docMk/>
            <pc:sldMk cId="3679843005" sldId="264"/>
            <ac:spMk id="3" creationId="{F3B6237E-CD34-9C3F-B26A-1FAAF8AC2B5D}"/>
          </ac:spMkLst>
        </pc:spChg>
      </pc:sldChg>
      <pc:sldChg chg="addSp add mod ord modTransition">
        <pc:chgData name="Navadeep Reddy Gurijala" userId="43955e30fca51142" providerId="LiveId" clId="{0194643F-938C-4D9B-B61D-13A0C14C4621}" dt="2026-09-22T02:47:38.595" v="59"/>
        <pc:sldMkLst>
          <pc:docMk/>
          <pc:sldMk cId="0" sldId="265"/>
        </pc:sldMkLst>
        <pc:picChg chg="add">
          <ac:chgData name="Navadeep Reddy Gurijala" userId="43955e30fca51142" providerId="LiveId" clId="{0194643F-938C-4D9B-B61D-13A0C14C4621}" dt="2026-09-22T02:47:12.144" v="52" actId="22"/>
          <ac:picMkLst>
            <pc:docMk/>
            <pc:sldMk cId="0" sldId="265"/>
            <ac:picMk id="16" creationId="{2623FD64-3D4C-FDCA-C1DC-A3285AF6EDC1}"/>
          </ac:picMkLst>
        </pc:picChg>
      </pc:sldChg>
      <pc:sldMasterChg chg="modTransition modSldLayout">
        <pc:chgData name="Navadeep Reddy Gurijala" userId="43955e30fca51142" providerId="LiveId" clId="{0194643F-938C-4D9B-B61D-13A0C14C4621}" dt="2026-09-22T02:47:38.595" v="59"/>
        <pc:sldMasterMkLst>
          <pc:docMk/>
          <pc:sldMasterMk cId="0" sldId="2147483648"/>
        </pc:sldMasterMkLst>
        <pc:sldLayoutChg chg="modTransition">
          <pc:chgData name="Navadeep Reddy Gurijala" userId="43955e30fca51142" providerId="LiveId" clId="{0194643F-938C-4D9B-B61D-13A0C14C4621}" dt="2026-09-22T02:47:38.595" v="59"/>
          <pc:sldLayoutMkLst>
            <pc:docMk/>
            <pc:sldMasterMk cId="0" sldId="2147483648"/>
            <pc:sldLayoutMk cId="0" sldId="2147483649"/>
          </pc:sldLayoutMkLst>
        </pc:sldLayoutChg>
        <pc:sldLayoutChg chg="modTransition">
          <pc:chgData name="Navadeep Reddy Gurijala" userId="43955e30fca51142" providerId="LiveId" clId="{0194643F-938C-4D9B-B61D-13A0C14C4621}" dt="2026-09-22T02:47:38.595" v="59"/>
          <pc:sldLayoutMkLst>
            <pc:docMk/>
            <pc:sldMasterMk cId="0" sldId="2147483648"/>
            <pc:sldLayoutMk cId="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7636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C0524">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787660" cy="6858000"/>
          </a:xfrm>
          <a:prstGeom prst="rect">
            <a:avLst/>
          </a:prstGeom>
          <a:effectLst>
            <a:glow rad="63500">
              <a:schemeClr val="accent3">
                <a:satMod val="175000"/>
                <a:alpha val="40000"/>
              </a:schemeClr>
            </a:glow>
          </a:effectLst>
        </p:spPr>
      </p:pic>
      <p:sp>
        <p:nvSpPr>
          <p:cNvPr id="3" name="Text 0"/>
          <p:cNvSpPr/>
          <p:nvPr/>
        </p:nvSpPr>
        <p:spPr>
          <a:xfrm>
            <a:off x="5172975" y="1667460"/>
            <a:ext cx="6296860" cy="1170632"/>
          </a:xfrm>
          <a:prstGeom prst="rect">
            <a:avLst/>
          </a:prstGeom>
          <a:noFill/>
          <a:ln/>
        </p:spPr>
        <p:txBody>
          <a:bodyPr wrap="square" lIns="0" tIns="0" rIns="0" bIns="0" rtlCol="0" anchor="t">
            <a:normAutofit fontScale="92500"/>
          </a:bodyPr>
          <a:lstStyle/>
          <a:p>
            <a:pPr marL="0" indent="0" algn="l">
              <a:lnSpc>
                <a:spcPct val="104000"/>
              </a:lnSpc>
              <a:buNone/>
            </a:pPr>
            <a:r>
              <a:rPr lang="en-US" sz="3900" b="1" kern="0" spc="-78" dirty="0">
                <a:solidFill>
                  <a:srgbClr val="FF8AAF"/>
                </a:solidFill>
                <a:latin typeface="Petrona Bold" pitchFamily="34" charset="0"/>
                <a:ea typeface="Petrona Bold" pitchFamily="34" charset="-122"/>
                <a:cs typeface="Petrona Bold" pitchFamily="34" charset="-120"/>
              </a:rPr>
              <a:t>Java-Based Vending Machine Controller Simulator</a:t>
            </a:r>
            <a:endParaRPr lang="en-US" sz="3900" dirty="0"/>
          </a:p>
        </p:txBody>
      </p:sp>
      <p:sp>
        <p:nvSpPr>
          <p:cNvPr id="4" name="Text 1"/>
          <p:cNvSpPr/>
          <p:nvPr/>
        </p:nvSpPr>
        <p:spPr>
          <a:xfrm>
            <a:off x="5233360" y="3516250"/>
            <a:ext cx="6296860" cy="604838"/>
          </a:xfrm>
          <a:prstGeom prst="rect">
            <a:avLst/>
          </a:prstGeom>
          <a:noFill/>
          <a:ln/>
        </p:spPr>
        <p:txBody>
          <a:bodyPr wrap="square" lIns="0" tIns="0" rIns="0" bIns="0" rtlCol="0" anchor="t">
            <a:noAutofit/>
          </a:bodyPr>
          <a:lstStyle/>
          <a:p>
            <a:pPr marL="0" indent="0" algn="l">
              <a:lnSpc>
                <a:spcPct val="133000"/>
              </a:lnSpc>
              <a:buNone/>
            </a:pPr>
            <a:r>
              <a:rPr lang="en-US" sz="2100" kern="0" spc="-30" dirty="0">
                <a:solidFill>
                  <a:srgbClr val="E0D6DE"/>
                </a:solidFill>
                <a:latin typeface="Inter" pitchFamily="34" charset="0"/>
                <a:ea typeface="Inter" pitchFamily="34" charset="-122"/>
                <a:cs typeface="Inter" pitchFamily="34" charset="-120"/>
              </a:rPr>
              <a:t>An introductory Java case study — from real-world transaction to working console simulator.</a:t>
            </a:r>
            <a:endParaRPr lang="en-US" sz="2100" dirty="0"/>
          </a:p>
        </p:txBody>
      </p:sp>
      <p:sp>
        <p:nvSpPr>
          <p:cNvPr id="5" name="Text 2"/>
          <p:cNvSpPr/>
          <p:nvPr/>
        </p:nvSpPr>
        <p:spPr>
          <a:xfrm>
            <a:off x="7652749" y="5004629"/>
            <a:ext cx="3877471" cy="604838"/>
          </a:xfrm>
          <a:prstGeom prst="rect">
            <a:avLst/>
          </a:prstGeom>
          <a:noFill/>
          <a:ln/>
        </p:spPr>
        <p:txBody>
          <a:bodyPr wrap="square" lIns="0" tIns="0" rIns="0" bIns="0" rtlCol="0" anchor="t">
            <a:noAutofit/>
          </a:bodyPr>
          <a:lstStyle/>
          <a:p>
            <a:pPr marL="0" indent="0" algn="l">
              <a:lnSpc>
                <a:spcPct val="133000"/>
              </a:lnSpc>
              <a:buNone/>
            </a:pPr>
            <a:r>
              <a:rPr lang="en-US" sz="1700" kern="0" spc="-30" dirty="0">
                <a:solidFill>
                  <a:srgbClr val="E0D6DE"/>
                </a:solidFill>
                <a:latin typeface="Inter" pitchFamily="34" charset="0"/>
                <a:ea typeface="Inter" pitchFamily="34" charset="-122"/>
                <a:cs typeface="Inter" pitchFamily="34" charset="-120"/>
              </a:rPr>
              <a:t>Team members: </a:t>
            </a:r>
          </a:p>
          <a:p>
            <a:pPr marL="0" indent="0" algn="l">
              <a:lnSpc>
                <a:spcPct val="133000"/>
              </a:lnSpc>
              <a:buNone/>
            </a:pPr>
            <a:r>
              <a:rPr lang="en-US" sz="1700" kern="0" spc="-30" dirty="0">
                <a:solidFill>
                  <a:srgbClr val="E0D6DE"/>
                </a:solidFill>
                <a:latin typeface="Inter" pitchFamily="34" charset="0"/>
                <a:ea typeface="Inter" pitchFamily="34" charset="-122"/>
                <a:cs typeface="Inter" pitchFamily="34" charset="-120"/>
              </a:rPr>
              <a:t>2620030508--G NAVADEEP REDDY      </a:t>
            </a:r>
          </a:p>
          <a:p>
            <a:pPr marL="0" indent="0" algn="l">
              <a:lnSpc>
                <a:spcPct val="133000"/>
              </a:lnSpc>
              <a:buNone/>
            </a:pPr>
            <a:r>
              <a:rPr lang="en-US" sz="1700" kern="0" spc="-30">
                <a:solidFill>
                  <a:srgbClr val="E0D6DE"/>
                </a:solidFill>
                <a:latin typeface="Inter" pitchFamily="34" charset="0"/>
                <a:ea typeface="Inter" pitchFamily="34" charset="-122"/>
              </a:rPr>
              <a:t>2620030454</a:t>
            </a:r>
            <a:r>
              <a:rPr lang="en-US" sz="1700" kern="0" spc="-30">
                <a:solidFill>
                  <a:srgbClr val="E0D6DE"/>
                </a:solidFill>
                <a:latin typeface="Inter" pitchFamily="34" charset="0"/>
                <a:ea typeface="Inter" pitchFamily="34" charset="-122"/>
                <a:cs typeface="Inter" pitchFamily="34" charset="-120"/>
              </a:rPr>
              <a:t> --S </a:t>
            </a:r>
            <a:r>
              <a:rPr lang="en-US" sz="1700" kern="0" spc="-30" dirty="0">
                <a:solidFill>
                  <a:srgbClr val="E0D6DE"/>
                </a:solidFill>
                <a:latin typeface="Inter" pitchFamily="34" charset="0"/>
                <a:ea typeface="Inter" pitchFamily="34" charset="-122"/>
                <a:cs typeface="Inter" pitchFamily="34" charset="-120"/>
              </a:rPr>
              <a:t>SRI TEJA         SECTION 2</a:t>
            </a:r>
          </a:p>
          <a:p>
            <a:pPr marL="0" indent="0" algn="l">
              <a:lnSpc>
                <a:spcPct val="133000"/>
              </a:lnSpc>
              <a:buNone/>
            </a:pPr>
            <a:endParaRPr lang="en-US" sz="1700" dirty="0"/>
          </a:p>
        </p:txBody>
      </p:sp>
      <p:pic>
        <p:nvPicPr>
          <p:cNvPr id="9" name="Picture 8">
            <a:extLst>
              <a:ext uri="{FF2B5EF4-FFF2-40B4-BE49-F238E27FC236}">
                <a16:creationId xmlns:a16="http://schemas.microsoft.com/office/drawing/2014/main" id="{EB1AFE86-4662-851E-3052-116B429EDF87}"/>
              </a:ext>
            </a:extLst>
          </p:cNvPr>
          <p:cNvPicPr>
            <a:picLocks noChangeAspect="1"/>
          </p:cNvPicPr>
          <p:nvPr/>
        </p:nvPicPr>
        <p:blipFill>
          <a:blip r:embed="rId4"/>
          <a:stretch>
            <a:fillRect/>
          </a:stretch>
        </p:blipFill>
        <p:spPr>
          <a:xfrm>
            <a:off x="10996049" y="0"/>
            <a:ext cx="1195951" cy="495293"/>
          </a:xfrm>
          <a:prstGeom prst="rect">
            <a:avLst/>
          </a:prstGeom>
        </p:spPr>
      </p:pic>
      <p:sp>
        <p:nvSpPr>
          <p:cNvPr id="11" name="TextBox 10">
            <a:extLst>
              <a:ext uri="{FF2B5EF4-FFF2-40B4-BE49-F238E27FC236}">
                <a16:creationId xmlns:a16="http://schemas.microsoft.com/office/drawing/2014/main" id="{8E6CE990-9A95-0D80-75E6-EA5ED05C63FD}"/>
              </a:ext>
            </a:extLst>
          </p:cNvPr>
          <p:cNvSpPr txBox="1"/>
          <p:nvPr/>
        </p:nvSpPr>
        <p:spPr>
          <a:xfrm>
            <a:off x="6172200" y="655394"/>
            <a:ext cx="3715376" cy="707886"/>
          </a:xfrm>
          <a:prstGeom prst="rect">
            <a:avLst/>
          </a:prstGeom>
          <a:noFill/>
        </p:spPr>
        <p:txBody>
          <a:bodyPr wrap="none" rtlCol="0">
            <a:spAutoFit/>
          </a:bodyPr>
          <a:lstStyle/>
          <a:p>
            <a:r>
              <a:rPr lang="en-IN" sz="4000" dirty="0">
                <a:solidFill>
                  <a:srgbClr val="CC0066"/>
                </a:solidFill>
              </a:rPr>
              <a:t>Capstone Project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0544" y="485613"/>
            <a:ext cx="10868745" cy="620216"/>
          </a:xfrm>
          <a:prstGeom prst="rect">
            <a:avLst/>
          </a:prstGeom>
          <a:noFill/>
          <a:ln/>
        </p:spPr>
        <p:txBody>
          <a:bodyPr wrap="none" lIns="0" tIns="0" rIns="0" bIns="0" rtlCol="0" anchor="t"/>
          <a:lstStyle/>
          <a:p>
            <a:pPr marL="0" indent="0" algn="l">
              <a:lnSpc>
                <a:spcPct val="104000"/>
              </a:lnSpc>
              <a:buNone/>
            </a:pPr>
            <a:r>
              <a:rPr lang="en-US" sz="3900" b="1" kern="0" spc="-78" dirty="0">
                <a:solidFill>
                  <a:srgbClr val="FF8AAF"/>
                </a:solidFill>
                <a:latin typeface="Petrona Bold" pitchFamily="34" charset="0"/>
                <a:ea typeface="Petrona Bold" pitchFamily="34" charset="-122"/>
                <a:cs typeface="Petrona Bold" pitchFamily="34" charset="-120"/>
              </a:rPr>
              <a:t>                                              Abstract</a:t>
            </a:r>
            <a:endParaRPr lang="en-US" sz="3900" dirty="0"/>
          </a:p>
        </p:txBody>
      </p:sp>
      <p:sp>
        <p:nvSpPr>
          <p:cNvPr id="3" name="Text 1"/>
          <p:cNvSpPr/>
          <p:nvPr/>
        </p:nvSpPr>
        <p:spPr>
          <a:xfrm>
            <a:off x="575210" y="1415937"/>
            <a:ext cx="10868745" cy="2027138"/>
          </a:xfrm>
          <a:prstGeom prst="rect">
            <a:avLst/>
          </a:prstGeom>
          <a:noFill/>
          <a:ln/>
        </p:spPr>
        <p:txBody>
          <a:bodyPr wrap="square" lIns="0" tIns="0" rIns="0" bIns="0" rtlCol="0" anchor="t">
            <a:noAutofit/>
          </a:bodyPr>
          <a:lstStyle/>
          <a:p>
            <a:pPr marL="0" indent="0" algn="just">
              <a:lnSpc>
                <a:spcPct val="133000"/>
              </a:lnSpc>
              <a:spcAft>
                <a:spcPts val="1650"/>
              </a:spcAft>
              <a:buNone/>
            </a:pPr>
            <a:r>
              <a:rPr lang="en-US" sz="2400" kern="0" spc="-30" dirty="0">
                <a:solidFill>
                  <a:srgbClr val="E0D6DE"/>
                </a:solidFill>
                <a:latin typeface="Times New Roman" panose="02020603050405020304" pitchFamily="18" charset="0"/>
                <a:ea typeface="Inter" pitchFamily="34" charset="-122"/>
                <a:cs typeface="Times New Roman" panose="02020603050405020304" pitchFamily="18" charset="0"/>
              </a:rPr>
              <a:t>The Vending Machine Controller Simulator is a simple Java-based project that demonstrates the basic working of a vending machine. The system allows a user to view available products, select a product, enter the required amount, and complete the purchase. It also checks whether the selected product is available and whether the user has entered enough money. If the amount entered is more than the product price, the system calculates and displays the change.</a:t>
            </a:r>
            <a:endParaRPr lang="en-US" sz="2400" dirty="0">
              <a:latin typeface="Times New Roman" panose="02020603050405020304" pitchFamily="18" charset="0"/>
              <a:cs typeface="Times New Roman" panose="02020603050405020304" pitchFamily="18" charset="0"/>
            </a:endParaRPr>
          </a:p>
          <a:p>
            <a:pPr marL="0" indent="0" algn="just">
              <a:lnSpc>
                <a:spcPct val="133000"/>
              </a:lnSpc>
              <a:buNone/>
            </a:pPr>
            <a:r>
              <a:rPr lang="en-US" sz="2400" kern="0" spc="-30" dirty="0">
                <a:solidFill>
                  <a:srgbClr val="E0D6DE"/>
                </a:solidFill>
                <a:latin typeface="Times New Roman" panose="02020603050405020304" pitchFamily="18" charset="0"/>
                <a:ea typeface="Inter" pitchFamily="34" charset="-122"/>
                <a:cs typeface="Times New Roman" panose="02020603050405020304" pitchFamily="18" charset="0"/>
              </a:rPr>
              <a:t>This project is mainly developed to understand and apply basic Java programming and Object-Oriented Programming (OOP) concepts. It provides a simple simulation of a real-world vending machine without requiring any physical hardware.</a:t>
            </a:r>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249AA3D-CA3E-4A50-65E8-3FA9839EBDC3}"/>
              </a:ext>
            </a:extLst>
          </p:cNvPr>
          <p:cNvPicPr>
            <a:picLocks noChangeAspect="1"/>
          </p:cNvPicPr>
          <p:nvPr/>
        </p:nvPicPr>
        <p:blipFill>
          <a:blip r:embed="rId3"/>
          <a:stretch>
            <a:fillRect/>
          </a:stretch>
        </p:blipFill>
        <p:spPr>
          <a:xfrm>
            <a:off x="10996049" y="0"/>
            <a:ext cx="1195951" cy="4952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51198"/>
            <a:ext cx="10868745" cy="855861"/>
          </a:xfrm>
          <a:prstGeom prst="rect">
            <a:avLst/>
          </a:prstGeom>
          <a:noFill/>
          <a:ln/>
        </p:spPr>
        <p:txBody>
          <a:bodyPr wrap="none" lIns="0" tIns="0" rIns="0" bIns="0" rtlCol="0" anchor="t"/>
          <a:lstStyle/>
          <a:p>
            <a:pPr marL="0" indent="0" algn="l">
              <a:lnSpc>
                <a:spcPct val="104000"/>
              </a:lnSpc>
              <a:buNone/>
            </a:pPr>
            <a:r>
              <a:rPr lang="en-US" sz="5350" b="1" kern="0" spc="-108" dirty="0">
                <a:solidFill>
                  <a:srgbClr val="FF8AAF"/>
                </a:solidFill>
                <a:latin typeface="Petrona Bold" pitchFamily="34" charset="0"/>
                <a:ea typeface="Petrona Bold" pitchFamily="34" charset="-122"/>
                <a:cs typeface="Petrona Bold" pitchFamily="34" charset="-120"/>
              </a:rPr>
              <a:t>Introduction</a:t>
            </a:r>
            <a:endParaRPr lang="en-US" sz="53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90527"/>
            <a:ext cx="2575357" cy="4016276"/>
          </a:xfrm>
          <a:prstGeom prst="rect">
            <a:avLst/>
          </a:prstGeom>
        </p:spPr>
      </p:pic>
      <p:sp>
        <p:nvSpPr>
          <p:cNvPr id="4" name="Text 1"/>
          <p:cNvSpPr/>
          <p:nvPr/>
        </p:nvSpPr>
        <p:spPr>
          <a:xfrm>
            <a:off x="977479" y="2204938"/>
            <a:ext cx="2044946" cy="620117"/>
          </a:xfrm>
          <a:prstGeom prst="rect">
            <a:avLst/>
          </a:prstGeom>
          <a:noFill/>
          <a:ln/>
        </p:spPr>
        <p:txBody>
          <a:bodyPr wrap="square" lIns="0" tIns="0" rIns="0" bIns="0" rtlCol="0" anchor="t">
            <a:normAutofit/>
          </a:bodyPr>
          <a:lstStyle/>
          <a:p>
            <a:pPr marL="0" indent="0" algn="l">
              <a:lnSpc>
                <a:spcPct val="104000"/>
              </a:lnSpc>
              <a:buNone/>
            </a:pPr>
            <a:r>
              <a:rPr lang="en-US" sz="1950" b="1" kern="0" spc="-39" dirty="0">
                <a:solidFill>
                  <a:srgbClr val="E0D6DE"/>
                </a:solidFill>
                <a:latin typeface="Petrona Bold" pitchFamily="34" charset="0"/>
                <a:ea typeface="Petrona Bold" pitchFamily="34" charset="-122"/>
                <a:cs typeface="Petrona Bold" pitchFamily="34" charset="-120"/>
              </a:rPr>
              <a:t>What you will learn</a:t>
            </a:r>
            <a:endParaRPr lang="en-US" sz="1950" dirty="0"/>
          </a:p>
        </p:txBody>
      </p:sp>
      <p:sp>
        <p:nvSpPr>
          <p:cNvPr id="5" name="Text 2"/>
          <p:cNvSpPr/>
          <p:nvPr/>
        </p:nvSpPr>
        <p:spPr>
          <a:xfrm>
            <a:off x="977479" y="2938463"/>
            <a:ext cx="2044946" cy="1644253"/>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Java fundamentals</a:t>
            </a:r>
            <a:endParaRPr lang="en-US" sz="1450" dirty="0"/>
          </a:p>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Object-oriented programming</a:t>
            </a:r>
            <a:endParaRPr lang="en-US" sz="1450" dirty="0"/>
          </a:p>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Control flow and decision-making</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25839" y="1990527"/>
            <a:ext cx="2575456" cy="4016276"/>
          </a:xfrm>
          <a:prstGeom prst="rect">
            <a:avLst/>
          </a:prstGeom>
        </p:spPr>
      </p:pic>
      <p:sp>
        <p:nvSpPr>
          <p:cNvPr id="7" name="Text 3"/>
          <p:cNvSpPr/>
          <p:nvPr/>
        </p:nvSpPr>
        <p:spPr>
          <a:xfrm>
            <a:off x="3741842" y="2204938"/>
            <a:ext cx="2045046" cy="620117"/>
          </a:xfrm>
          <a:prstGeom prst="rect">
            <a:avLst/>
          </a:prstGeom>
          <a:noFill/>
          <a:ln/>
        </p:spPr>
        <p:txBody>
          <a:bodyPr wrap="square" lIns="0" tIns="0" rIns="0" bIns="0" rtlCol="0" anchor="t">
            <a:normAutofit/>
          </a:bodyPr>
          <a:lstStyle/>
          <a:p>
            <a:pPr marL="0" indent="0" algn="l">
              <a:lnSpc>
                <a:spcPct val="104000"/>
              </a:lnSpc>
              <a:buNone/>
            </a:pPr>
            <a:r>
              <a:rPr lang="en-US" sz="1950" b="1" kern="0" spc="-39" dirty="0">
                <a:solidFill>
                  <a:srgbClr val="E0D6DE"/>
                </a:solidFill>
                <a:latin typeface="Petrona Bold" pitchFamily="34" charset="0"/>
                <a:ea typeface="Petrona Bold" pitchFamily="34" charset="-122"/>
                <a:cs typeface="Petrona Bold" pitchFamily="34" charset="-120"/>
              </a:rPr>
              <a:t>Why this project matters</a:t>
            </a:r>
            <a:endParaRPr lang="en-US" sz="1950" dirty="0"/>
          </a:p>
        </p:txBody>
      </p:sp>
      <p:sp>
        <p:nvSpPr>
          <p:cNvPr id="8" name="Text 4"/>
          <p:cNvSpPr/>
          <p:nvPr/>
        </p:nvSpPr>
        <p:spPr>
          <a:xfrm>
            <a:off x="3741842" y="2938463"/>
            <a:ext cx="2045046" cy="1946672"/>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Real-world relevance</a:t>
            </a:r>
            <a:endParaRPr lang="en-US" sz="1450" dirty="0"/>
          </a:p>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Practical problem solving</a:t>
            </a:r>
            <a:endParaRPr lang="en-US" sz="1450" dirty="0"/>
          </a:p>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Easy to understand, but rich in logic</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0301" y="1990527"/>
            <a:ext cx="2575456" cy="4016276"/>
          </a:xfrm>
          <a:prstGeom prst="rect">
            <a:avLst/>
          </a:prstGeom>
        </p:spPr>
      </p:pic>
      <p:sp>
        <p:nvSpPr>
          <p:cNvPr id="10" name="Text 5"/>
          <p:cNvSpPr/>
          <p:nvPr/>
        </p:nvSpPr>
        <p:spPr>
          <a:xfrm>
            <a:off x="6506305" y="2204938"/>
            <a:ext cx="2045046" cy="930176"/>
          </a:xfrm>
          <a:prstGeom prst="rect">
            <a:avLst/>
          </a:prstGeom>
          <a:noFill/>
          <a:ln/>
        </p:spPr>
        <p:txBody>
          <a:bodyPr wrap="square" lIns="0" tIns="0" rIns="0" bIns="0" rtlCol="0" anchor="t">
            <a:normAutofit/>
          </a:bodyPr>
          <a:lstStyle/>
          <a:p>
            <a:pPr marL="0" indent="0" algn="l">
              <a:lnSpc>
                <a:spcPct val="104000"/>
              </a:lnSpc>
              <a:buNone/>
            </a:pPr>
            <a:r>
              <a:rPr lang="en-US" sz="1950" b="1" kern="0" spc="-39" dirty="0">
                <a:solidFill>
                  <a:srgbClr val="E0D6DE"/>
                </a:solidFill>
                <a:latin typeface="Petrona Bold" pitchFamily="34" charset="0"/>
                <a:ea typeface="Petrona Bold" pitchFamily="34" charset="-122"/>
                <a:cs typeface="Petrona Bold" pitchFamily="34" charset="-120"/>
              </a:rPr>
              <a:t>What the simulator demonstrates</a:t>
            </a:r>
            <a:endParaRPr lang="en-US" sz="1950" dirty="0"/>
          </a:p>
        </p:txBody>
      </p:sp>
      <p:sp>
        <p:nvSpPr>
          <p:cNvPr id="11" name="Text 6"/>
          <p:cNvSpPr/>
          <p:nvPr/>
        </p:nvSpPr>
        <p:spPr>
          <a:xfrm>
            <a:off x="6506305" y="3248521"/>
            <a:ext cx="2045046" cy="134183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Transaction logic</a:t>
            </a:r>
            <a:endParaRPr lang="en-US" sz="1450" dirty="0"/>
          </a:p>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State management</a:t>
            </a:r>
            <a:endParaRPr lang="en-US" sz="1450" dirty="0"/>
          </a:p>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Interactive user decisions</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54764" y="1990527"/>
            <a:ext cx="2575456" cy="4016276"/>
          </a:xfrm>
          <a:prstGeom prst="rect">
            <a:avLst/>
          </a:prstGeom>
        </p:spPr>
      </p:pic>
      <p:sp>
        <p:nvSpPr>
          <p:cNvPr id="13" name="Text 7"/>
          <p:cNvSpPr/>
          <p:nvPr/>
        </p:nvSpPr>
        <p:spPr>
          <a:xfrm>
            <a:off x="9270768" y="2204938"/>
            <a:ext cx="2045046" cy="620117"/>
          </a:xfrm>
          <a:prstGeom prst="rect">
            <a:avLst/>
          </a:prstGeom>
          <a:noFill/>
          <a:ln/>
        </p:spPr>
        <p:txBody>
          <a:bodyPr wrap="square" lIns="0" tIns="0" rIns="0" bIns="0" rtlCol="0" anchor="t">
            <a:normAutofit/>
          </a:bodyPr>
          <a:lstStyle/>
          <a:p>
            <a:pPr marL="0" indent="0" algn="l">
              <a:lnSpc>
                <a:spcPct val="104000"/>
              </a:lnSpc>
              <a:buNone/>
            </a:pPr>
            <a:r>
              <a:rPr lang="en-US" sz="1950" b="1" kern="0" spc="-39" dirty="0">
                <a:solidFill>
                  <a:srgbClr val="E0D6DE"/>
                </a:solidFill>
                <a:latin typeface="Petrona Bold" pitchFamily="34" charset="0"/>
                <a:ea typeface="Petrona Bold" pitchFamily="34" charset="-122"/>
                <a:cs typeface="Petrona Bold" pitchFamily="34" charset="-120"/>
              </a:rPr>
              <a:t>Connection to course outcomes</a:t>
            </a:r>
            <a:endParaRPr lang="en-US" sz="1950" dirty="0"/>
          </a:p>
        </p:txBody>
      </p:sp>
      <p:sp>
        <p:nvSpPr>
          <p:cNvPr id="14" name="Text 8"/>
          <p:cNvSpPr/>
          <p:nvPr/>
        </p:nvSpPr>
        <p:spPr>
          <a:xfrm>
            <a:off x="9270768" y="2938463"/>
            <a:ext cx="2045046" cy="2853928"/>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Applies coding concepts in a structured system</a:t>
            </a:r>
            <a:endParaRPr lang="en-US" sz="1450" dirty="0"/>
          </a:p>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Builds confidence for larger Java projects</a:t>
            </a:r>
            <a:endParaRPr lang="en-US" sz="1450" dirty="0"/>
          </a:p>
          <a:p>
            <a:pPr marL="294640" indent="-294640" algn="l">
              <a:lnSpc>
                <a:spcPct val="133000"/>
              </a:lnSpc>
              <a:buSzPct val="100000"/>
              <a:buChar char="•"/>
            </a:pPr>
            <a:r>
              <a:rPr lang="en-US" sz="1450" kern="0" spc="-30" dirty="0">
                <a:solidFill>
                  <a:srgbClr val="E0D6DE"/>
                </a:solidFill>
                <a:latin typeface="Inter" pitchFamily="34" charset="0"/>
                <a:ea typeface="Inter" pitchFamily="34" charset="-122"/>
                <a:cs typeface="Inter" pitchFamily="34" charset="-120"/>
              </a:rPr>
              <a:t>Reinforces computational thinking</a:t>
            </a:r>
            <a:endParaRPr lang="en-US" sz="1450" dirty="0"/>
          </a:p>
        </p:txBody>
      </p:sp>
      <p:pic>
        <p:nvPicPr>
          <p:cNvPr id="16" name="Picture 15">
            <a:extLst>
              <a:ext uri="{FF2B5EF4-FFF2-40B4-BE49-F238E27FC236}">
                <a16:creationId xmlns:a16="http://schemas.microsoft.com/office/drawing/2014/main" id="{2623FD64-3D4C-FDCA-C1DC-A3285AF6EDC1}"/>
              </a:ext>
            </a:extLst>
          </p:cNvPr>
          <p:cNvPicPr>
            <a:picLocks noChangeAspect="1"/>
          </p:cNvPicPr>
          <p:nvPr/>
        </p:nvPicPr>
        <p:blipFill>
          <a:blip r:embed="rId4"/>
          <a:stretch>
            <a:fillRect/>
          </a:stretch>
        </p:blipFill>
        <p:spPr>
          <a:xfrm>
            <a:off x="10996049" y="0"/>
            <a:ext cx="1195951" cy="4952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pic>
        <p:nvPicPr>
          <p:cNvPr id="3" name="Image 1" descr="preencoded.png"/>
          <p:cNvPicPr>
            <a:picLocks noChangeAspect="1"/>
          </p:cNvPicPr>
          <p:nvPr/>
        </p:nvPicPr>
        <p:blipFill>
          <a:blip r:embed="rId4"/>
          <a:stretch>
            <a:fillRect/>
          </a:stretch>
        </p:blipFill>
        <p:spPr>
          <a:xfrm>
            <a:off x="7697992" y="485279"/>
            <a:ext cx="4415422" cy="5887442"/>
          </a:xfrm>
          <a:prstGeom prst="rect">
            <a:avLst/>
          </a:prstGeom>
        </p:spPr>
      </p:pic>
      <p:sp>
        <p:nvSpPr>
          <p:cNvPr id="4" name="Text 0"/>
          <p:cNvSpPr/>
          <p:nvPr/>
        </p:nvSpPr>
        <p:spPr>
          <a:xfrm>
            <a:off x="661475" y="523577"/>
            <a:ext cx="6296860" cy="1027113"/>
          </a:xfrm>
          <a:prstGeom prst="rect">
            <a:avLst/>
          </a:prstGeom>
          <a:noFill/>
          <a:ln/>
        </p:spPr>
        <p:txBody>
          <a:bodyPr wrap="square" lIns="0" tIns="0" rIns="0" bIns="0" rtlCol="0" anchor="t">
            <a:normAutofit/>
          </a:bodyPr>
          <a:lstStyle/>
          <a:p>
            <a:pPr marL="0" indent="0" algn="l">
              <a:lnSpc>
                <a:spcPct val="104000"/>
              </a:lnSpc>
              <a:buNone/>
            </a:pPr>
            <a:r>
              <a:rPr lang="en-US" sz="3200" b="1" kern="0" spc="-65" dirty="0">
                <a:solidFill>
                  <a:srgbClr val="FF8AAF"/>
                </a:solidFill>
                <a:latin typeface="Times New Roman" panose="02020603050405020304" pitchFamily="18" charset="0"/>
                <a:ea typeface="Petrona Bold" pitchFamily="34" charset="-122"/>
                <a:cs typeface="Times New Roman" panose="02020603050405020304" pitchFamily="18" charset="0"/>
              </a:rPr>
              <a:t>From Everyday Transaction to Java Simulator</a:t>
            </a:r>
            <a:endParaRPr lang="en-US" sz="3200" dirty="0">
              <a:latin typeface="Times New Roman" panose="02020603050405020304" pitchFamily="18" charset="0"/>
              <a:cs typeface="Times New Roman" panose="02020603050405020304" pitchFamily="18" charset="0"/>
            </a:endParaRPr>
          </a:p>
        </p:txBody>
      </p:sp>
      <p:pic>
        <p:nvPicPr>
          <p:cNvPr id="5" name="Image 2" descr="preencoded.png"/>
          <p:cNvPicPr>
            <a:picLocks noChangeAspect="1"/>
          </p:cNvPicPr>
          <p:nvPr/>
        </p:nvPicPr>
        <p:blipFill>
          <a:blip r:embed="rId5"/>
          <a:stretch>
            <a:fillRect/>
          </a:stretch>
        </p:blipFill>
        <p:spPr>
          <a:xfrm>
            <a:off x="661475" y="1745059"/>
            <a:ext cx="782618" cy="939205"/>
          </a:xfrm>
          <a:prstGeom prst="rect">
            <a:avLst/>
          </a:prstGeom>
        </p:spPr>
      </p:pic>
      <p:sp>
        <p:nvSpPr>
          <p:cNvPr id="6" name="Text 1"/>
          <p:cNvSpPr/>
          <p:nvPr/>
        </p:nvSpPr>
        <p:spPr>
          <a:xfrm>
            <a:off x="1573669" y="1901527"/>
            <a:ext cx="5384665" cy="256778"/>
          </a:xfrm>
          <a:prstGeom prst="rect">
            <a:avLst/>
          </a:prstGeom>
          <a:noFill/>
          <a:ln/>
        </p:spPr>
        <p:txBody>
          <a:bodyPr wrap="none" lIns="0" tIns="0" rIns="0" bIns="0" rtlCol="0" anchor="t"/>
          <a:lstStyle/>
          <a:p>
            <a:pPr marL="0" indent="0" algn="l">
              <a:lnSpc>
                <a:spcPct val="104000"/>
              </a:lnSpc>
              <a:buNone/>
            </a:pPr>
            <a:r>
              <a:rPr lang="en-US" sz="1600" b="1" kern="0" spc="-32" dirty="0">
                <a:solidFill>
                  <a:srgbClr val="E0D6DE"/>
                </a:solidFill>
                <a:latin typeface="Times New Roman" panose="02020603050405020304" pitchFamily="18" charset="0"/>
                <a:ea typeface="Petrona Bold" pitchFamily="34" charset="-122"/>
                <a:cs typeface="Times New Roman" panose="02020603050405020304" pitchFamily="18" charset="0"/>
              </a:rPr>
              <a:t>Display</a:t>
            </a:r>
            <a:endParaRPr lang="en-US" sz="1600" dirty="0">
              <a:latin typeface="Times New Roman" panose="02020603050405020304" pitchFamily="18" charset="0"/>
              <a:cs typeface="Times New Roman" panose="02020603050405020304" pitchFamily="18" charset="0"/>
            </a:endParaRPr>
          </a:p>
        </p:txBody>
      </p:sp>
      <p:sp>
        <p:nvSpPr>
          <p:cNvPr id="7" name="Text 2"/>
          <p:cNvSpPr/>
          <p:nvPr/>
        </p:nvSpPr>
        <p:spPr>
          <a:xfrm>
            <a:off x="1573669" y="2235994"/>
            <a:ext cx="5384665" cy="228898"/>
          </a:xfrm>
          <a:prstGeom prst="rect">
            <a:avLst/>
          </a:prstGeom>
          <a:noFill/>
          <a:ln/>
        </p:spPr>
        <p:txBody>
          <a:bodyPr wrap="none" lIns="0" tIns="0" rIns="0" bIns="0" rtlCol="0" anchor="t"/>
          <a:lstStyle/>
          <a:p>
            <a:pPr marL="0" indent="0" algn="l">
              <a:lnSpc>
                <a:spcPct val="122000"/>
              </a:lnSpc>
              <a:buNone/>
            </a:pPr>
            <a:r>
              <a:rPr lang="en-US" sz="1200" kern="0" spc="-25" dirty="0">
                <a:solidFill>
                  <a:srgbClr val="E0D6DE"/>
                </a:solidFill>
                <a:latin typeface="Times New Roman" panose="02020603050405020304" pitchFamily="18" charset="0"/>
                <a:ea typeface="Inter" pitchFamily="34" charset="-122"/>
                <a:cs typeface="Times New Roman" panose="02020603050405020304" pitchFamily="18" charset="0"/>
              </a:rPr>
              <a:t>Show available products and prices</a:t>
            </a:r>
            <a:endParaRPr lang="en-US" sz="1200" dirty="0">
              <a:latin typeface="Times New Roman" panose="02020603050405020304" pitchFamily="18" charset="0"/>
              <a:cs typeface="Times New Roman" panose="02020603050405020304" pitchFamily="18" charset="0"/>
            </a:endParaRPr>
          </a:p>
        </p:txBody>
      </p:sp>
      <p:pic>
        <p:nvPicPr>
          <p:cNvPr id="8" name="Image 3" descr="preencoded.png"/>
          <p:cNvPicPr>
            <a:picLocks noChangeAspect="1"/>
          </p:cNvPicPr>
          <p:nvPr/>
        </p:nvPicPr>
        <p:blipFill>
          <a:blip r:embed="rId6"/>
          <a:stretch>
            <a:fillRect/>
          </a:stretch>
        </p:blipFill>
        <p:spPr>
          <a:xfrm>
            <a:off x="661475" y="2684264"/>
            <a:ext cx="782618" cy="939205"/>
          </a:xfrm>
          <a:prstGeom prst="rect">
            <a:avLst/>
          </a:prstGeom>
        </p:spPr>
      </p:pic>
      <p:sp>
        <p:nvSpPr>
          <p:cNvPr id="9" name="Text 3"/>
          <p:cNvSpPr/>
          <p:nvPr/>
        </p:nvSpPr>
        <p:spPr>
          <a:xfrm>
            <a:off x="1573669" y="2840732"/>
            <a:ext cx="5384665" cy="256778"/>
          </a:xfrm>
          <a:prstGeom prst="rect">
            <a:avLst/>
          </a:prstGeom>
          <a:noFill/>
          <a:ln/>
        </p:spPr>
        <p:txBody>
          <a:bodyPr wrap="none" lIns="0" tIns="0" rIns="0" bIns="0" rtlCol="0" anchor="t"/>
          <a:lstStyle/>
          <a:p>
            <a:pPr marL="0" indent="0" algn="l">
              <a:lnSpc>
                <a:spcPct val="104000"/>
              </a:lnSpc>
              <a:buNone/>
            </a:pPr>
            <a:r>
              <a:rPr lang="en-US" sz="1600" b="1" kern="0" spc="-32" dirty="0">
                <a:solidFill>
                  <a:srgbClr val="E0D6DE"/>
                </a:solidFill>
                <a:latin typeface="Times New Roman" panose="02020603050405020304" pitchFamily="18" charset="0"/>
                <a:ea typeface="Petrona Bold" pitchFamily="34" charset="-122"/>
                <a:cs typeface="Times New Roman" panose="02020603050405020304" pitchFamily="18" charset="0"/>
              </a:rPr>
              <a:t>Select</a:t>
            </a:r>
            <a:endParaRPr lang="en-US" sz="1600" dirty="0">
              <a:latin typeface="Times New Roman" panose="02020603050405020304" pitchFamily="18" charset="0"/>
              <a:cs typeface="Times New Roman" panose="02020603050405020304" pitchFamily="18" charset="0"/>
            </a:endParaRPr>
          </a:p>
        </p:txBody>
      </p:sp>
      <p:sp>
        <p:nvSpPr>
          <p:cNvPr id="10" name="Text 4"/>
          <p:cNvSpPr/>
          <p:nvPr/>
        </p:nvSpPr>
        <p:spPr>
          <a:xfrm>
            <a:off x="1573669" y="3175198"/>
            <a:ext cx="5384665" cy="228898"/>
          </a:xfrm>
          <a:prstGeom prst="rect">
            <a:avLst/>
          </a:prstGeom>
          <a:noFill/>
          <a:ln/>
        </p:spPr>
        <p:txBody>
          <a:bodyPr wrap="none" lIns="0" tIns="0" rIns="0" bIns="0" rtlCol="0" anchor="t"/>
          <a:lstStyle/>
          <a:p>
            <a:pPr marL="0" indent="0" algn="l">
              <a:lnSpc>
                <a:spcPct val="122000"/>
              </a:lnSpc>
              <a:buNone/>
            </a:pPr>
            <a:r>
              <a:rPr lang="en-US" sz="1200" kern="0" spc="-25" dirty="0">
                <a:solidFill>
                  <a:srgbClr val="E0D6DE"/>
                </a:solidFill>
                <a:latin typeface="Times New Roman" panose="02020603050405020304" pitchFamily="18" charset="0"/>
                <a:ea typeface="Inter" pitchFamily="34" charset="-122"/>
                <a:cs typeface="Times New Roman" panose="02020603050405020304" pitchFamily="18" charset="0"/>
              </a:rPr>
              <a:t>Read user choice from console</a:t>
            </a:r>
            <a:endParaRPr lang="en-US" sz="1200" dirty="0">
              <a:latin typeface="Times New Roman" panose="02020603050405020304" pitchFamily="18" charset="0"/>
              <a:cs typeface="Times New Roman" panose="02020603050405020304" pitchFamily="18" charset="0"/>
            </a:endParaRPr>
          </a:p>
        </p:txBody>
      </p:sp>
      <p:pic>
        <p:nvPicPr>
          <p:cNvPr id="11" name="Image 4" descr="preencoded.png"/>
          <p:cNvPicPr>
            <a:picLocks noChangeAspect="1"/>
          </p:cNvPicPr>
          <p:nvPr/>
        </p:nvPicPr>
        <p:blipFill>
          <a:blip r:embed="rId7"/>
          <a:stretch>
            <a:fillRect/>
          </a:stretch>
        </p:blipFill>
        <p:spPr>
          <a:xfrm>
            <a:off x="661475" y="3623469"/>
            <a:ext cx="782618" cy="939205"/>
          </a:xfrm>
          <a:prstGeom prst="rect">
            <a:avLst/>
          </a:prstGeom>
        </p:spPr>
      </p:pic>
      <p:sp>
        <p:nvSpPr>
          <p:cNvPr id="12" name="Text 5"/>
          <p:cNvSpPr/>
          <p:nvPr/>
        </p:nvSpPr>
        <p:spPr>
          <a:xfrm>
            <a:off x="1573669" y="3779937"/>
            <a:ext cx="5384665" cy="256778"/>
          </a:xfrm>
          <a:prstGeom prst="rect">
            <a:avLst/>
          </a:prstGeom>
          <a:noFill/>
          <a:ln/>
        </p:spPr>
        <p:txBody>
          <a:bodyPr wrap="none" lIns="0" tIns="0" rIns="0" bIns="0" rtlCol="0" anchor="t"/>
          <a:lstStyle/>
          <a:p>
            <a:pPr marL="0" indent="0" algn="l">
              <a:lnSpc>
                <a:spcPct val="104000"/>
              </a:lnSpc>
              <a:buNone/>
            </a:pPr>
            <a:r>
              <a:rPr lang="en-US" sz="1600" b="1" kern="0" spc="-32" dirty="0">
                <a:solidFill>
                  <a:srgbClr val="E0D6DE"/>
                </a:solidFill>
                <a:latin typeface="Times New Roman" panose="02020603050405020304" pitchFamily="18" charset="0"/>
                <a:ea typeface="Petrona Bold" pitchFamily="34" charset="-122"/>
                <a:cs typeface="Times New Roman" panose="02020603050405020304" pitchFamily="18" charset="0"/>
              </a:rPr>
              <a:t>Validate</a:t>
            </a:r>
            <a:endParaRPr lang="en-US" sz="1600" dirty="0">
              <a:latin typeface="Times New Roman" panose="02020603050405020304" pitchFamily="18" charset="0"/>
              <a:cs typeface="Times New Roman" panose="02020603050405020304" pitchFamily="18" charset="0"/>
            </a:endParaRPr>
          </a:p>
        </p:txBody>
      </p:sp>
      <p:sp>
        <p:nvSpPr>
          <p:cNvPr id="13" name="Text 6"/>
          <p:cNvSpPr/>
          <p:nvPr/>
        </p:nvSpPr>
        <p:spPr>
          <a:xfrm>
            <a:off x="1573669" y="4114403"/>
            <a:ext cx="5384665" cy="228898"/>
          </a:xfrm>
          <a:prstGeom prst="rect">
            <a:avLst/>
          </a:prstGeom>
          <a:noFill/>
          <a:ln/>
        </p:spPr>
        <p:txBody>
          <a:bodyPr wrap="none" lIns="0" tIns="0" rIns="0" bIns="0" rtlCol="0" anchor="t"/>
          <a:lstStyle/>
          <a:p>
            <a:pPr marL="0" indent="0" algn="l">
              <a:lnSpc>
                <a:spcPct val="122000"/>
              </a:lnSpc>
              <a:buNone/>
            </a:pPr>
            <a:r>
              <a:rPr lang="en-US" sz="1200" kern="0" spc="-25" dirty="0">
                <a:solidFill>
                  <a:srgbClr val="E0D6DE"/>
                </a:solidFill>
                <a:latin typeface="Times New Roman" panose="02020603050405020304" pitchFamily="18" charset="0"/>
                <a:ea typeface="Inter" pitchFamily="34" charset="-122"/>
                <a:cs typeface="Times New Roman" panose="02020603050405020304" pitchFamily="18" charset="0"/>
              </a:rPr>
              <a:t>Check stock and payment</a:t>
            </a:r>
            <a:endParaRPr lang="en-US" sz="1200" dirty="0">
              <a:latin typeface="Times New Roman" panose="02020603050405020304" pitchFamily="18" charset="0"/>
              <a:cs typeface="Times New Roman" panose="02020603050405020304" pitchFamily="18" charset="0"/>
            </a:endParaRPr>
          </a:p>
        </p:txBody>
      </p:sp>
      <p:pic>
        <p:nvPicPr>
          <p:cNvPr id="14" name="Image 5" descr="preencoded.png"/>
          <p:cNvPicPr>
            <a:picLocks noChangeAspect="1"/>
          </p:cNvPicPr>
          <p:nvPr/>
        </p:nvPicPr>
        <p:blipFill>
          <a:blip r:embed="rId8"/>
          <a:stretch>
            <a:fillRect/>
          </a:stretch>
        </p:blipFill>
        <p:spPr>
          <a:xfrm>
            <a:off x="661475" y="4562673"/>
            <a:ext cx="782618" cy="939205"/>
          </a:xfrm>
          <a:prstGeom prst="rect">
            <a:avLst/>
          </a:prstGeom>
        </p:spPr>
      </p:pic>
      <p:sp>
        <p:nvSpPr>
          <p:cNvPr id="15" name="Text 7"/>
          <p:cNvSpPr/>
          <p:nvPr/>
        </p:nvSpPr>
        <p:spPr>
          <a:xfrm>
            <a:off x="1573669" y="4719141"/>
            <a:ext cx="5384665" cy="256778"/>
          </a:xfrm>
          <a:prstGeom prst="rect">
            <a:avLst/>
          </a:prstGeom>
          <a:noFill/>
          <a:ln/>
        </p:spPr>
        <p:txBody>
          <a:bodyPr wrap="none" lIns="0" tIns="0" rIns="0" bIns="0" rtlCol="0" anchor="t"/>
          <a:lstStyle/>
          <a:p>
            <a:pPr marL="0" indent="0" algn="l">
              <a:lnSpc>
                <a:spcPct val="104000"/>
              </a:lnSpc>
              <a:buNone/>
            </a:pPr>
            <a:r>
              <a:rPr lang="en-US" sz="1600" b="1" kern="0" spc="-32" dirty="0">
                <a:solidFill>
                  <a:srgbClr val="E0D6DE"/>
                </a:solidFill>
                <a:latin typeface="Times New Roman" panose="02020603050405020304" pitchFamily="18" charset="0"/>
                <a:ea typeface="Petrona Bold" pitchFamily="34" charset="-122"/>
                <a:cs typeface="Times New Roman" panose="02020603050405020304" pitchFamily="18" charset="0"/>
              </a:rPr>
              <a:t>Dispense</a:t>
            </a:r>
            <a:endParaRPr lang="en-US" sz="1600" dirty="0">
              <a:latin typeface="Times New Roman" panose="02020603050405020304" pitchFamily="18" charset="0"/>
              <a:cs typeface="Times New Roman" panose="02020603050405020304" pitchFamily="18" charset="0"/>
            </a:endParaRPr>
          </a:p>
        </p:txBody>
      </p:sp>
      <p:sp>
        <p:nvSpPr>
          <p:cNvPr id="16" name="Text 8"/>
          <p:cNvSpPr/>
          <p:nvPr/>
        </p:nvSpPr>
        <p:spPr>
          <a:xfrm>
            <a:off x="1573669" y="5053608"/>
            <a:ext cx="5384665" cy="228898"/>
          </a:xfrm>
          <a:prstGeom prst="rect">
            <a:avLst/>
          </a:prstGeom>
          <a:noFill/>
          <a:ln/>
        </p:spPr>
        <p:txBody>
          <a:bodyPr wrap="none" lIns="0" tIns="0" rIns="0" bIns="0" rtlCol="0" anchor="t"/>
          <a:lstStyle/>
          <a:p>
            <a:pPr marL="0" indent="0" algn="l">
              <a:lnSpc>
                <a:spcPct val="122000"/>
              </a:lnSpc>
              <a:buNone/>
            </a:pPr>
            <a:r>
              <a:rPr lang="en-US" sz="1200" kern="0" spc="-25" dirty="0">
                <a:solidFill>
                  <a:srgbClr val="E0D6DE"/>
                </a:solidFill>
                <a:latin typeface="Times New Roman" panose="02020603050405020304" pitchFamily="18" charset="0"/>
                <a:ea typeface="Inter" pitchFamily="34" charset="-122"/>
                <a:cs typeface="Times New Roman" panose="02020603050405020304" pitchFamily="18" charset="0"/>
              </a:rPr>
              <a:t>Calculate change and confirm</a:t>
            </a:r>
            <a:endParaRPr lang="en-US" sz="1200" dirty="0">
              <a:latin typeface="Times New Roman" panose="02020603050405020304" pitchFamily="18" charset="0"/>
              <a:cs typeface="Times New Roman" panose="02020603050405020304" pitchFamily="18" charset="0"/>
            </a:endParaRPr>
          </a:p>
        </p:txBody>
      </p:sp>
      <p:sp>
        <p:nvSpPr>
          <p:cNvPr id="17" name="Text 9"/>
          <p:cNvSpPr/>
          <p:nvPr/>
        </p:nvSpPr>
        <p:spPr>
          <a:xfrm>
            <a:off x="661475" y="5647630"/>
            <a:ext cx="6296860" cy="686693"/>
          </a:xfrm>
          <a:prstGeom prst="rect">
            <a:avLst/>
          </a:prstGeom>
          <a:noFill/>
          <a:ln/>
        </p:spPr>
        <p:txBody>
          <a:bodyPr wrap="square" lIns="0" tIns="0" rIns="0" bIns="0" rtlCol="0" anchor="t">
            <a:noAutofit/>
          </a:bodyPr>
          <a:lstStyle/>
          <a:p>
            <a:pPr marL="0" indent="0" algn="l">
              <a:lnSpc>
                <a:spcPct val="122000"/>
              </a:lnSpc>
              <a:buNone/>
            </a:pPr>
            <a:r>
              <a:rPr lang="en-US" sz="1400" kern="0" spc="-25" dirty="0">
                <a:solidFill>
                  <a:srgbClr val="E0D6DE"/>
                </a:solidFill>
                <a:latin typeface="Times New Roman" panose="02020603050405020304" pitchFamily="18" charset="0"/>
                <a:ea typeface="Inter" pitchFamily="34" charset="-122"/>
                <a:cs typeface="Times New Roman" panose="02020603050405020304" pitchFamily="18" charset="0"/>
              </a:rPr>
              <a:t>This console-based simulator models controller logic — no physical hardware required. It integrates algorithms, Java fundamentals, and control flow in one compact, teachable case study.</a:t>
            </a:r>
            <a:endParaRPr lang="en-US" sz="1400"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19E4D0C9-7FAF-6E5F-855A-DA6E3470C941}"/>
              </a:ext>
            </a:extLst>
          </p:cNvPr>
          <p:cNvPicPr>
            <a:picLocks noChangeAspect="1"/>
          </p:cNvPicPr>
          <p:nvPr/>
        </p:nvPicPr>
        <p:blipFill>
          <a:blip r:embed="rId9"/>
          <a:stretch>
            <a:fillRect/>
          </a:stretch>
        </p:blipFill>
        <p:spPr>
          <a:xfrm>
            <a:off x="10996049" y="0"/>
            <a:ext cx="1195951" cy="4952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20700"/>
            <a:ext cx="10868745" cy="533003"/>
          </a:xfrm>
          <a:prstGeom prst="rect">
            <a:avLst/>
          </a:prstGeom>
          <a:noFill/>
          <a:ln/>
        </p:spPr>
        <p:txBody>
          <a:bodyPr wrap="none" lIns="0" tIns="0" rIns="0" bIns="0" rtlCol="0" anchor="t"/>
          <a:lstStyle/>
          <a:p>
            <a:pPr marL="0" indent="0" algn="l">
              <a:lnSpc>
                <a:spcPct val="104000"/>
              </a:lnSpc>
              <a:buNone/>
            </a:pPr>
            <a:r>
              <a:rPr lang="en-US" sz="1100" b="1" kern="0" spc="-67" dirty="0">
                <a:solidFill>
                  <a:srgbClr val="FF8AAF"/>
                </a:solidFill>
                <a:latin typeface="Times New Roman" panose="02020603050405020304" pitchFamily="18" charset="0"/>
                <a:ea typeface="Petrona Bold" pitchFamily="34" charset="-122"/>
                <a:cs typeface="Times New Roman" panose="02020603050405020304" pitchFamily="18" charset="0"/>
              </a:rPr>
              <a:t>Computational Thinking: Model the Vending Process</a:t>
            </a:r>
            <a:endParaRPr lang="en-US" sz="11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661475" y="2833402"/>
            <a:ext cx="6925990" cy="1898848"/>
          </a:xfrm>
          <a:prstGeom prst="rect">
            <a:avLst/>
          </a:prstGeom>
        </p:spPr>
      </p:pic>
      <p:sp>
        <p:nvSpPr>
          <p:cNvPr id="4" name="Text 1"/>
          <p:cNvSpPr/>
          <p:nvPr/>
        </p:nvSpPr>
        <p:spPr>
          <a:xfrm>
            <a:off x="1496412" y="3536806"/>
            <a:ext cx="1046606" cy="196771"/>
          </a:xfrm>
          <a:prstGeom prst="rect">
            <a:avLst/>
          </a:prstGeom>
          <a:noFill/>
          <a:ln/>
        </p:spPr>
        <p:txBody>
          <a:bodyPr wrap="none" lIns="0" tIns="0" rIns="0" bIns="0" rtlCol="0" anchor="t"/>
          <a:lstStyle/>
          <a:p>
            <a:pPr marL="0" indent="0" algn="ctr">
              <a:lnSpc>
                <a:spcPct val="104000"/>
              </a:lnSpc>
              <a:buNone/>
            </a:pPr>
            <a:r>
              <a:rPr lang="en-US" sz="1100" b="1" kern="0" spc="-25" dirty="0">
                <a:solidFill>
                  <a:srgbClr val="E0D6DE"/>
                </a:solidFill>
                <a:latin typeface="Times New Roman" panose="02020603050405020304" pitchFamily="18" charset="0"/>
                <a:ea typeface="Petrona Bold" pitchFamily="34" charset="-122"/>
                <a:cs typeface="Times New Roman" panose="02020603050405020304" pitchFamily="18" charset="0"/>
              </a:rPr>
              <a:t>Show Menu</a:t>
            </a:r>
            <a:endParaRPr lang="en-US" sz="1100" dirty="0">
              <a:latin typeface="Times New Roman" panose="02020603050405020304" pitchFamily="18" charset="0"/>
              <a:cs typeface="Times New Roman" panose="02020603050405020304" pitchFamily="18" charset="0"/>
            </a:endParaRPr>
          </a:p>
        </p:txBody>
      </p:sp>
      <p:sp>
        <p:nvSpPr>
          <p:cNvPr id="5" name="Text 2"/>
          <p:cNvSpPr/>
          <p:nvPr/>
        </p:nvSpPr>
        <p:spPr>
          <a:xfrm>
            <a:off x="1496412" y="3786882"/>
            <a:ext cx="1046606" cy="417903"/>
          </a:xfrm>
          <a:prstGeom prst="rect">
            <a:avLst/>
          </a:prstGeom>
          <a:noFill/>
          <a:ln/>
        </p:spPr>
        <p:txBody>
          <a:bodyPr wrap="square" lIns="0" tIns="0" rIns="0" bIns="0" rtlCol="0" anchor="t">
            <a:noAutofit/>
          </a:bodyPr>
          <a:lstStyle/>
          <a:p>
            <a:pPr marL="0" indent="0" algn="ctr">
              <a:lnSpc>
                <a:spcPct val="97000"/>
              </a:lnSpc>
              <a:buNone/>
            </a:pPr>
            <a:r>
              <a:rPr lang="en-US" sz="1100" kern="0" spc="-27" dirty="0">
                <a:solidFill>
                  <a:srgbClr val="E0D6DE"/>
                </a:solidFill>
                <a:latin typeface="Times New Roman" panose="02020603050405020304" pitchFamily="18" charset="0"/>
                <a:ea typeface="Inter" pitchFamily="34" charset="-122"/>
                <a:cs typeface="Times New Roman" panose="02020603050405020304" pitchFamily="18" charset="0"/>
              </a:rPr>
              <a:t>User is presented with available options.</a:t>
            </a:r>
            <a:endParaRPr lang="en-US" sz="1100" dirty="0">
              <a:latin typeface="Times New Roman" panose="02020603050405020304" pitchFamily="18" charset="0"/>
              <a:cs typeface="Times New Roman" panose="02020603050405020304" pitchFamily="18" charset="0"/>
            </a:endParaRPr>
          </a:p>
        </p:txBody>
      </p:sp>
      <p:sp>
        <p:nvSpPr>
          <p:cNvPr id="6" name="Text 3"/>
          <p:cNvSpPr/>
          <p:nvPr/>
        </p:nvSpPr>
        <p:spPr>
          <a:xfrm>
            <a:off x="2908961" y="3265076"/>
            <a:ext cx="1046606" cy="393541"/>
          </a:xfrm>
          <a:prstGeom prst="rect">
            <a:avLst/>
          </a:prstGeom>
          <a:noFill/>
          <a:ln/>
        </p:spPr>
        <p:txBody>
          <a:bodyPr wrap="square" lIns="0" tIns="0" rIns="0" bIns="0" rtlCol="0" anchor="t">
            <a:normAutofit/>
          </a:bodyPr>
          <a:lstStyle/>
          <a:p>
            <a:pPr marL="0" indent="0" algn="ctr">
              <a:lnSpc>
                <a:spcPct val="104000"/>
              </a:lnSpc>
              <a:buNone/>
            </a:pPr>
            <a:r>
              <a:rPr lang="en-US" sz="1100" b="1" kern="0" spc="-25" dirty="0">
                <a:solidFill>
                  <a:srgbClr val="FF8AAF"/>
                </a:solidFill>
                <a:latin typeface="Times New Roman" panose="02020603050405020304" pitchFamily="18" charset="0"/>
                <a:ea typeface="Petrona Bold" pitchFamily="34" charset="-122"/>
                <a:cs typeface="Times New Roman" panose="02020603050405020304" pitchFamily="18" charset="0"/>
              </a:rPr>
              <a:t>Validate Selection</a:t>
            </a:r>
            <a:endParaRPr lang="en-US" sz="1100" dirty="0">
              <a:latin typeface="Times New Roman" panose="02020603050405020304" pitchFamily="18" charset="0"/>
              <a:cs typeface="Times New Roman" panose="02020603050405020304" pitchFamily="18" charset="0"/>
            </a:endParaRPr>
          </a:p>
        </p:txBody>
      </p:sp>
      <p:sp>
        <p:nvSpPr>
          <p:cNvPr id="7" name="Text 4"/>
          <p:cNvSpPr/>
          <p:nvPr/>
        </p:nvSpPr>
        <p:spPr>
          <a:xfrm>
            <a:off x="2908961" y="3711922"/>
            <a:ext cx="1046606" cy="417903"/>
          </a:xfrm>
          <a:prstGeom prst="rect">
            <a:avLst/>
          </a:prstGeom>
          <a:noFill/>
          <a:ln/>
        </p:spPr>
        <p:txBody>
          <a:bodyPr wrap="square" lIns="0" tIns="0" rIns="0" bIns="0" rtlCol="0" anchor="t">
            <a:noAutofit/>
          </a:bodyPr>
          <a:lstStyle/>
          <a:p>
            <a:pPr marL="0" indent="0" algn="ctr">
              <a:lnSpc>
                <a:spcPct val="97000"/>
              </a:lnSpc>
              <a:buNone/>
            </a:pPr>
            <a:r>
              <a:rPr lang="en-US" sz="1100" kern="0" spc="-27" dirty="0">
                <a:solidFill>
                  <a:srgbClr val="E0D6DE"/>
                </a:solidFill>
                <a:latin typeface="Times New Roman" panose="02020603050405020304" pitchFamily="18" charset="0"/>
                <a:ea typeface="Inter" pitchFamily="34" charset="-122"/>
                <a:cs typeface="Times New Roman" panose="02020603050405020304" pitchFamily="18" charset="0"/>
              </a:rPr>
              <a:t>System confirms the user's choice is valid.</a:t>
            </a:r>
            <a:endParaRPr lang="en-US" sz="1100" dirty="0">
              <a:latin typeface="Times New Roman" panose="02020603050405020304" pitchFamily="18" charset="0"/>
              <a:cs typeface="Times New Roman" panose="02020603050405020304" pitchFamily="18" charset="0"/>
            </a:endParaRPr>
          </a:p>
        </p:txBody>
      </p:sp>
      <p:sp>
        <p:nvSpPr>
          <p:cNvPr id="8" name="Text 5"/>
          <p:cNvSpPr/>
          <p:nvPr/>
        </p:nvSpPr>
        <p:spPr>
          <a:xfrm>
            <a:off x="4348161" y="3536806"/>
            <a:ext cx="1046606" cy="393541"/>
          </a:xfrm>
          <a:prstGeom prst="rect">
            <a:avLst/>
          </a:prstGeom>
          <a:noFill/>
          <a:ln/>
        </p:spPr>
        <p:txBody>
          <a:bodyPr wrap="square" lIns="0" tIns="0" rIns="0" bIns="0" rtlCol="0" anchor="t">
            <a:normAutofit/>
          </a:bodyPr>
          <a:lstStyle/>
          <a:p>
            <a:pPr marL="0" indent="0" algn="ctr">
              <a:lnSpc>
                <a:spcPct val="104000"/>
              </a:lnSpc>
              <a:buNone/>
            </a:pPr>
            <a:r>
              <a:rPr lang="en-US" sz="1100" b="1" kern="0" spc="-25" dirty="0">
                <a:solidFill>
                  <a:srgbClr val="FF8AAF"/>
                </a:solidFill>
                <a:latin typeface="Times New Roman" panose="02020603050405020304" pitchFamily="18" charset="0"/>
                <a:ea typeface="Petrona Bold" pitchFamily="34" charset="-122"/>
                <a:cs typeface="Times New Roman" panose="02020603050405020304" pitchFamily="18" charset="0"/>
              </a:rPr>
              <a:t>Accept Payment</a:t>
            </a:r>
            <a:endParaRPr lang="en-US" sz="1100" dirty="0">
              <a:latin typeface="Times New Roman" panose="02020603050405020304" pitchFamily="18" charset="0"/>
              <a:cs typeface="Times New Roman" panose="02020603050405020304" pitchFamily="18" charset="0"/>
            </a:endParaRPr>
          </a:p>
        </p:txBody>
      </p:sp>
      <p:sp>
        <p:nvSpPr>
          <p:cNvPr id="9" name="Text 6"/>
          <p:cNvSpPr/>
          <p:nvPr/>
        </p:nvSpPr>
        <p:spPr>
          <a:xfrm>
            <a:off x="4348161" y="3983653"/>
            <a:ext cx="1046606" cy="557204"/>
          </a:xfrm>
          <a:prstGeom prst="rect">
            <a:avLst/>
          </a:prstGeom>
          <a:noFill/>
          <a:ln/>
        </p:spPr>
        <p:txBody>
          <a:bodyPr wrap="square" lIns="0" tIns="0" rIns="0" bIns="0" rtlCol="0" anchor="t">
            <a:normAutofit/>
          </a:bodyPr>
          <a:lstStyle/>
          <a:p>
            <a:pPr marL="0" indent="0" algn="ctr">
              <a:lnSpc>
                <a:spcPct val="97000"/>
              </a:lnSpc>
              <a:buNone/>
            </a:pPr>
            <a:r>
              <a:rPr lang="en-US" sz="1100" kern="0" spc="-27" dirty="0">
                <a:solidFill>
                  <a:srgbClr val="E0D6DE"/>
                </a:solidFill>
                <a:latin typeface="Times New Roman" panose="02020603050405020304" pitchFamily="18" charset="0"/>
                <a:ea typeface="Inter" pitchFamily="34" charset="-122"/>
                <a:cs typeface="Times New Roman" panose="02020603050405020304" pitchFamily="18" charset="0"/>
              </a:rPr>
              <a:t>Payment information is processed securely.</a:t>
            </a:r>
            <a:endParaRPr lang="en-US" sz="1100" dirty="0">
              <a:latin typeface="Times New Roman" panose="02020603050405020304" pitchFamily="18" charset="0"/>
              <a:cs typeface="Times New Roman" panose="02020603050405020304" pitchFamily="18" charset="0"/>
            </a:endParaRPr>
          </a:p>
        </p:txBody>
      </p:sp>
      <p:sp>
        <p:nvSpPr>
          <p:cNvPr id="10" name="Text 7"/>
          <p:cNvSpPr/>
          <p:nvPr/>
        </p:nvSpPr>
        <p:spPr>
          <a:xfrm>
            <a:off x="5774036" y="3404377"/>
            <a:ext cx="1046606" cy="393541"/>
          </a:xfrm>
          <a:prstGeom prst="rect">
            <a:avLst/>
          </a:prstGeom>
          <a:noFill/>
          <a:ln/>
        </p:spPr>
        <p:txBody>
          <a:bodyPr wrap="square" lIns="0" tIns="0" rIns="0" bIns="0" rtlCol="0" anchor="t">
            <a:normAutofit/>
          </a:bodyPr>
          <a:lstStyle/>
          <a:p>
            <a:pPr marL="0" indent="0" algn="ctr">
              <a:lnSpc>
                <a:spcPct val="104000"/>
              </a:lnSpc>
              <a:buNone/>
            </a:pPr>
            <a:r>
              <a:rPr lang="en-US" sz="1100" b="1" kern="0" spc="-25" dirty="0">
                <a:solidFill>
                  <a:srgbClr val="FF8AAF"/>
                </a:solidFill>
                <a:latin typeface="Times New Roman" panose="02020603050405020304" pitchFamily="18" charset="0"/>
                <a:ea typeface="Petrona Bold" pitchFamily="34" charset="-122"/>
                <a:cs typeface="Times New Roman" panose="02020603050405020304" pitchFamily="18" charset="0"/>
              </a:rPr>
              <a:t>Dispense or Decline</a:t>
            </a:r>
            <a:endParaRPr lang="en-US" sz="1100" dirty="0">
              <a:latin typeface="Times New Roman" panose="02020603050405020304" pitchFamily="18" charset="0"/>
              <a:cs typeface="Times New Roman" panose="02020603050405020304" pitchFamily="18" charset="0"/>
            </a:endParaRPr>
          </a:p>
        </p:txBody>
      </p:sp>
      <p:sp>
        <p:nvSpPr>
          <p:cNvPr id="11" name="Text 8"/>
          <p:cNvSpPr/>
          <p:nvPr/>
        </p:nvSpPr>
        <p:spPr>
          <a:xfrm>
            <a:off x="5774036" y="3851223"/>
            <a:ext cx="1046606" cy="278602"/>
          </a:xfrm>
          <a:prstGeom prst="rect">
            <a:avLst/>
          </a:prstGeom>
          <a:noFill/>
          <a:ln/>
        </p:spPr>
        <p:txBody>
          <a:bodyPr wrap="square" lIns="0" tIns="0" rIns="0" bIns="0" rtlCol="0" anchor="t">
            <a:noAutofit/>
          </a:bodyPr>
          <a:lstStyle/>
          <a:p>
            <a:pPr marL="0" indent="0" algn="ctr">
              <a:lnSpc>
                <a:spcPct val="97000"/>
              </a:lnSpc>
              <a:buNone/>
            </a:pPr>
            <a:r>
              <a:rPr lang="en-US" sz="1100" kern="0" spc="-27" dirty="0">
                <a:solidFill>
                  <a:srgbClr val="E0D6DE"/>
                </a:solidFill>
                <a:latin typeface="Times New Roman" panose="02020603050405020304" pitchFamily="18" charset="0"/>
                <a:ea typeface="Inter" pitchFamily="34" charset="-122"/>
                <a:cs typeface="Times New Roman" panose="02020603050405020304" pitchFamily="18" charset="0"/>
              </a:rPr>
              <a:t>The final outcome is determined.</a:t>
            </a:r>
            <a:endParaRPr lang="en-US" sz="1100" dirty="0">
              <a:latin typeface="Times New Roman" panose="02020603050405020304" pitchFamily="18" charset="0"/>
              <a:cs typeface="Times New Roman" panose="02020603050405020304" pitchFamily="18" charset="0"/>
            </a:endParaRPr>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90084" y="1420019"/>
            <a:ext cx="3546485" cy="1493738"/>
          </a:xfrm>
          <a:prstGeom prst="rect">
            <a:avLst/>
          </a:prstGeom>
        </p:spPr>
      </p:pic>
      <p:sp>
        <p:nvSpPr>
          <p:cNvPr id="13" name="Text 9"/>
          <p:cNvSpPr/>
          <p:nvPr/>
        </p:nvSpPr>
        <p:spPr>
          <a:xfrm>
            <a:off x="8247749" y="1601490"/>
            <a:ext cx="3107354" cy="266502"/>
          </a:xfrm>
          <a:prstGeom prst="rect">
            <a:avLst/>
          </a:prstGeom>
          <a:noFill/>
          <a:ln/>
        </p:spPr>
        <p:txBody>
          <a:bodyPr wrap="none" lIns="0" tIns="0" rIns="0" bIns="0" rtlCol="0" anchor="t"/>
          <a:lstStyle/>
          <a:p>
            <a:pPr marL="0" indent="0" algn="l">
              <a:lnSpc>
                <a:spcPct val="104000"/>
              </a:lnSpc>
              <a:buNone/>
            </a:pPr>
            <a:r>
              <a:rPr lang="en-US" sz="1100" b="1" kern="0" spc="-34" dirty="0">
                <a:solidFill>
                  <a:srgbClr val="E0D6DE"/>
                </a:solidFill>
                <a:latin typeface="Times New Roman" panose="02020603050405020304" pitchFamily="18" charset="0"/>
                <a:ea typeface="Petrona Bold" pitchFamily="34" charset="-122"/>
                <a:cs typeface="Times New Roman" panose="02020603050405020304" pitchFamily="18" charset="0"/>
              </a:rPr>
              <a:t>Decomposition</a:t>
            </a:r>
            <a:endParaRPr lang="en-US" sz="1100" dirty="0">
              <a:latin typeface="Times New Roman" panose="02020603050405020304" pitchFamily="18" charset="0"/>
              <a:cs typeface="Times New Roman" panose="02020603050405020304" pitchFamily="18" charset="0"/>
            </a:endParaRPr>
          </a:p>
        </p:txBody>
      </p:sp>
      <p:sp>
        <p:nvSpPr>
          <p:cNvPr id="14" name="Text 10"/>
          <p:cNvSpPr/>
          <p:nvPr/>
        </p:nvSpPr>
        <p:spPr>
          <a:xfrm>
            <a:off x="8247749" y="2007493"/>
            <a:ext cx="3107354" cy="724793"/>
          </a:xfrm>
          <a:prstGeom prst="rect">
            <a:avLst/>
          </a:prstGeom>
          <a:noFill/>
          <a:ln/>
        </p:spPr>
        <p:txBody>
          <a:bodyPr wrap="square" lIns="0" tIns="0" rIns="0" bIns="0" rtlCol="0" anchor="t">
            <a:normAutofit/>
          </a:bodyPr>
          <a:lstStyle/>
          <a:p>
            <a:pPr marL="0" indent="0" algn="l">
              <a:lnSpc>
                <a:spcPct val="124000"/>
              </a:lnSpc>
              <a:buNone/>
            </a:pPr>
            <a:r>
              <a:rPr lang="en-US" sz="1100" kern="0" spc="-26" dirty="0">
                <a:solidFill>
                  <a:srgbClr val="E0D6DE"/>
                </a:solidFill>
                <a:latin typeface="Times New Roman" panose="02020603050405020304" pitchFamily="18" charset="0"/>
                <a:ea typeface="Inter" pitchFamily="34" charset="-122"/>
                <a:cs typeface="Times New Roman" panose="02020603050405020304" pitchFamily="18" charset="0"/>
              </a:rPr>
              <a:t>Break the problem into parts: products, prices, quantities, selection, payment, change</a:t>
            </a:r>
            <a:endParaRPr lang="en-US" sz="1100" dirty="0">
              <a:latin typeface="Times New Roman" panose="02020603050405020304" pitchFamily="18" charset="0"/>
              <a:cs typeface="Times New Roman" panose="02020603050405020304" pitchFamily="18" charset="0"/>
            </a:endParaRPr>
          </a:p>
        </p:txBody>
      </p:sp>
      <p:pic>
        <p:nvPicPr>
          <p:cNvPr id="15"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90084" y="3053259"/>
            <a:ext cx="3546485" cy="1493738"/>
          </a:xfrm>
          <a:prstGeom prst="rect">
            <a:avLst/>
          </a:prstGeom>
        </p:spPr>
      </p:pic>
      <p:sp>
        <p:nvSpPr>
          <p:cNvPr id="16" name="Text 11"/>
          <p:cNvSpPr/>
          <p:nvPr/>
        </p:nvSpPr>
        <p:spPr>
          <a:xfrm>
            <a:off x="8247749" y="3234730"/>
            <a:ext cx="3107354" cy="266502"/>
          </a:xfrm>
          <a:prstGeom prst="rect">
            <a:avLst/>
          </a:prstGeom>
          <a:noFill/>
          <a:ln/>
        </p:spPr>
        <p:txBody>
          <a:bodyPr wrap="none" lIns="0" tIns="0" rIns="0" bIns="0" rtlCol="0" anchor="t"/>
          <a:lstStyle/>
          <a:p>
            <a:pPr marL="0" indent="0" algn="l">
              <a:lnSpc>
                <a:spcPct val="104000"/>
              </a:lnSpc>
              <a:buNone/>
            </a:pPr>
            <a:r>
              <a:rPr lang="en-US" sz="1100" b="1" kern="0" spc="-34" dirty="0">
                <a:solidFill>
                  <a:srgbClr val="E0D6DE"/>
                </a:solidFill>
                <a:latin typeface="Times New Roman" panose="02020603050405020304" pitchFamily="18" charset="0"/>
                <a:ea typeface="Petrona Bold" pitchFamily="34" charset="-122"/>
                <a:cs typeface="Times New Roman" panose="02020603050405020304" pitchFamily="18" charset="0"/>
              </a:rPr>
              <a:t>Pattern Recognition</a:t>
            </a:r>
            <a:endParaRPr lang="en-US" sz="1100" dirty="0">
              <a:latin typeface="Times New Roman" panose="02020603050405020304" pitchFamily="18" charset="0"/>
              <a:cs typeface="Times New Roman" panose="02020603050405020304" pitchFamily="18" charset="0"/>
            </a:endParaRPr>
          </a:p>
        </p:txBody>
      </p:sp>
      <p:sp>
        <p:nvSpPr>
          <p:cNvPr id="17" name="Text 12"/>
          <p:cNvSpPr/>
          <p:nvPr/>
        </p:nvSpPr>
        <p:spPr>
          <a:xfrm>
            <a:off x="8247749" y="3640733"/>
            <a:ext cx="3107354" cy="724793"/>
          </a:xfrm>
          <a:prstGeom prst="rect">
            <a:avLst/>
          </a:prstGeom>
          <a:noFill/>
          <a:ln/>
        </p:spPr>
        <p:txBody>
          <a:bodyPr wrap="square" lIns="0" tIns="0" rIns="0" bIns="0" rtlCol="0" anchor="t">
            <a:normAutofit/>
          </a:bodyPr>
          <a:lstStyle/>
          <a:p>
            <a:pPr marL="0" indent="0" algn="l">
              <a:lnSpc>
                <a:spcPct val="124000"/>
              </a:lnSpc>
              <a:buNone/>
            </a:pPr>
            <a:r>
              <a:rPr lang="en-US" sz="1100" kern="0" spc="-26" dirty="0">
                <a:solidFill>
                  <a:srgbClr val="E0D6DE"/>
                </a:solidFill>
                <a:latin typeface="Times New Roman" panose="02020603050405020304" pitchFamily="18" charset="0"/>
                <a:ea typeface="Inter" pitchFamily="34" charset="-122"/>
                <a:cs typeface="Times New Roman" panose="02020603050405020304" pitchFamily="18" charset="0"/>
              </a:rPr>
              <a:t>Every sale follows the same rule — validation must succeed before completion</a:t>
            </a:r>
            <a:endParaRPr lang="en-US" sz="1100" dirty="0">
              <a:latin typeface="Times New Roman" panose="02020603050405020304" pitchFamily="18" charset="0"/>
              <a:cs typeface="Times New Roman" panose="02020603050405020304" pitchFamily="18" charset="0"/>
            </a:endParaRPr>
          </a:p>
        </p:txBody>
      </p:sp>
      <p:pic>
        <p:nvPicPr>
          <p:cNvPr id="18"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90084" y="4686498"/>
            <a:ext cx="3546485" cy="1493738"/>
          </a:xfrm>
          <a:prstGeom prst="rect">
            <a:avLst/>
          </a:prstGeom>
        </p:spPr>
      </p:pic>
      <p:sp>
        <p:nvSpPr>
          <p:cNvPr id="19" name="Text 13"/>
          <p:cNvSpPr/>
          <p:nvPr/>
        </p:nvSpPr>
        <p:spPr>
          <a:xfrm>
            <a:off x="8247749" y="4867970"/>
            <a:ext cx="3107354" cy="266502"/>
          </a:xfrm>
          <a:prstGeom prst="rect">
            <a:avLst/>
          </a:prstGeom>
          <a:noFill/>
          <a:ln/>
        </p:spPr>
        <p:txBody>
          <a:bodyPr wrap="none" lIns="0" tIns="0" rIns="0" bIns="0" rtlCol="0" anchor="t"/>
          <a:lstStyle/>
          <a:p>
            <a:pPr marL="0" indent="0" algn="l">
              <a:lnSpc>
                <a:spcPct val="104000"/>
              </a:lnSpc>
              <a:buNone/>
            </a:pPr>
            <a:r>
              <a:rPr lang="en-US" sz="1100" b="1" kern="0" spc="-34" dirty="0">
                <a:solidFill>
                  <a:srgbClr val="E0D6DE"/>
                </a:solidFill>
                <a:latin typeface="Times New Roman" panose="02020603050405020304" pitchFamily="18" charset="0"/>
                <a:ea typeface="Petrona Bold" pitchFamily="34" charset="-122"/>
                <a:cs typeface="Times New Roman" panose="02020603050405020304" pitchFamily="18" charset="0"/>
              </a:rPr>
              <a:t>Key Decisions</a:t>
            </a:r>
            <a:endParaRPr lang="en-US" sz="1100" dirty="0">
              <a:latin typeface="Times New Roman" panose="02020603050405020304" pitchFamily="18" charset="0"/>
              <a:cs typeface="Times New Roman" panose="02020603050405020304" pitchFamily="18" charset="0"/>
            </a:endParaRPr>
          </a:p>
        </p:txBody>
      </p:sp>
      <p:sp>
        <p:nvSpPr>
          <p:cNvPr id="20" name="Text 14"/>
          <p:cNvSpPr/>
          <p:nvPr/>
        </p:nvSpPr>
        <p:spPr>
          <a:xfrm>
            <a:off x="8247749" y="5273973"/>
            <a:ext cx="3107354" cy="724793"/>
          </a:xfrm>
          <a:prstGeom prst="rect">
            <a:avLst/>
          </a:prstGeom>
          <a:noFill/>
          <a:ln/>
        </p:spPr>
        <p:txBody>
          <a:bodyPr wrap="square" lIns="0" tIns="0" rIns="0" bIns="0" rtlCol="0" anchor="t">
            <a:normAutofit/>
          </a:bodyPr>
          <a:lstStyle/>
          <a:p>
            <a:pPr marL="0" indent="0" algn="l">
              <a:lnSpc>
                <a:spcPct val="124000"/>
              </a:lnSpc>
              <a:buNone/>
            </a:pPr>
            <a:r>
              <a:rPr lang="en-US" sz="1100" kern="0" spc="-26" dirty="0">
                <a:solidFill>
                  <a:srgbClr val="E0D6DE"/>
                </a:solidFill>
                <a:latin typeface="Times New Roman" panose="02020603050405020304" pitchFamily="18" charset="0"/>
                <a:ea typeface="Inter" pitchFamily="34" charset="-122"/>
                <a:cs typeface="Times New Roman" panose="02020603050405020304" pitchFamily="18" charset="0"/>
              </a:rPr>
              <a:t>"Valid selection?", "quantity &gt; 0?", "money ≥ price?" — three gates every transaction passes</a:t>
            </a:r>
            <a:endParaRPr lang="en-US" sz="1100" dirty="0">
              <a:latin typeface="Times New Roman" panose="02020603050405020304" pitchFamily="18" charset="0"/>
              <a:cs typeface="Times New Roman" panose="02020603050405020304" pitchFamily="18" charset="0"/>
            </a:endParaRPr>
          </a:p>
        </p:txBody>
      </p:sp>
      <p:pic>
        <p:nvPicPr>
          <p:cNvPr id="22" name="Picture 21">
            <a:extLst>
              <a:ext uri="{FF2B5EF4-FFF2-40B4-BE49-F238E27FC236}">
                <a16:creationId xmlns:a16="http://schemas.microsoft.com/office/drawing/2014/main" id="{47EFCDDA-DB05-0673-E4C9-369B9A94FE52}"/>
              </a:ext>
            </a:extLst>
          </p:cNvPr>
          <p:cNvPicPr>
            <a:picLocks noChangeAspect="1"/>
          </p:cNvPicPr>
          <p:nvPr/>
        </p:nvPicPr>
        <p:blipFill>
          <a:blip r:embed="rId5"/>
          <a:stretch>
            <a:fillRect/>
          </a:stretch>
        </p:blipFill>
        <p:spPr>
          <a:xfrm>
            <a:off x="10996049" y="0"/>
            <a:ext cx="1195951" cy="4952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406823"/>
            <a:ext cx="10868745" cy="620216"/>
          </a:xfrm>
          <a:prstGeom prst="rect">
            <a:avLst/>
          </a:prstGeom>
          <a:noFill/>
          <a:ln/>
        </p:spPr>
        <p:txBody>
          <a:bodyPr wrap="none" lIns="0" tIns="0" rIns="0" bIns="0" rtlCol="0" anchor="t"/>
          <a:lstStyle/>
          <a:p>
            <a:pPr marL="0" indent="0" algn="l">
              <a:lnSpc>
                <a:spcPct val="104000"/>
              </a:lnSpc>
              <a:buNone/>
            </a:pPr>
            <a:r>
              <a:rPr lang="en-US" sz="3900" b="1" kern="0" spc="-78" dirty="0">
                <a:solidFill>
                  <a:srgbClr val="FF8AAF"/>
                </a:solidFill>
                <a:latin typeface="Petrona Bold" pitchFamily="34" charset="0"/>
                <a:ea typeface="Petrona Bold" pitchFamily="34" charset="-122"/>
                <a:cs typeface="Petrona Bold" pitchFamily="34" charset="-120"/>
              </a:rPr>
              <a:t>Java Foundations and Console Interaction</a:t>
            </a:r>
            <a:endParaRPr lang="en-US" sz="3900" dirty="0"/>
          </a:p>
        </p:txBody>
      </p:sp>
      <p:sp>
        <p:nvSpPr>
          <p:cNvPr id="3" name="Shape 1"/>
          <p:cNvSpPr/>
          <p:nvPr/>
        </p:nvSpPr>
        <p:spPr>
          <a:xfrm>
            <a:off x="661475" y="2405063"/>
            <a:ext cx="5339820" cy="1425377"/>
          </a:xfrm>
          <a:prstGeom prst="roundRect">
            <a:avLst>
              <a:gd name="adj" fmla="val 5570"/>
            </a:avLst>
          </a:prstGeom>
          <a:solidFill>
            <a:srgbClr val="2F1D63"/>
          </a:solidFill>
          <a:ln w="6350">
            <a:solidFill>
              <a:srgbClr val="48367C"/>
            </a:solidFill>
            <a:prstDash val="solid"/>
          </a:ln>
        </p:spPr>
      </p:sp>
      <p:sp>
        <p:nvSpPr>
          <p:cNvPr id="4" name="Text 2"/>
          <p:cNvSpPr/>
          <p:nvPr/>
        </p:nvSpPr>
        <p:spPr>
          <a:xfrm>
            <a:off x="856832" y="2600424"/>
            <a:ext cx="4949106" cy="310059"/>
          </a:xfrm>
          <a:prstGeom prst="rect">
            <a:avLst/>
          </a:prstGeom>
          <a:noFill/>
          <a:ln/>
        </p:spPr>
        <p:txBody>
          <a:bodyPr wrap="none" lIns="0" tIns="0" rIns="0" bIns="0" rtlCol="0" anchor="t"/>
          <a:lstStyle/>
          <a:p>
            <a:pPr marL="0" indent="0" algn="l">
              <a:lnSpc>
                <a:spcPct val="104000"/>
              </a:lnSpc>
              <a:buNone/>
            </a:pPr>
            <a:r>
              <a:rPr lang="en-US" sz="1500" b="1" kern="0" spc="-39" dirty="0">
                <a:solidFill>
                  <a:srgbClr val="E0D6DE"/>
                </a:solidFill>
                <a:latin typeface="Petrona Bold" pitchFamily="34" charset="0"/>
                <a:ea typeface="Petrona Bold" pitchFamily="34" charset="-122"/>
                <a:cs typeface="Petrona Bold" pitchFamily="34" charset="-120"/>
              </a:rPr>
              <a:t>Data Types</a:t>
            </a:r>
            <a:endParaRPr lang="en-US" sz="1500" dirty="0"/>
          </a:p>
        </p:txBody>
      </p:sp>
      <p:sp>
        <p:nvSpPr>
          <p:cNvPr id="5" name="Text 3"/>
          <p:cNvSpPr/>
          <p:nvPr/>
        </p:nvSpPr>
        <p:spPr>
          <a:xfrm>
            <a:off x="856832" y="3023890"/>
            <a:ext cx="4949106" cy="611188"/>
          </a:xfrm>
          <a:prstGeom prst="rect">
            <a:avLst/>
          </a:prstGeom>
          <a:noFill/>
          <a:ln/>
        </p:spPr>
        <p:txBody>
          <a:bodyPr wrap="square" lIns="0" tIns="0" rIns="0" bIns="0" rtlCol="0" anchor="t">
            <a:normAutofit/>
          </a:bodyPr>
          <a:lstStyle/>
          <a:p>
            <a:pPr marL="0" indent="0" algn="l">
              <a:lnSpc>
                <a:spcPct val="133000"/>
              </a:lnSpc>
              <a:buNone/>
            </a:pPr>
            <a:r>
              <a:rPr lang="en-US" sz="1500" kern="0" spc="-30" dirty="0">
                <a:solidFill>
                  <a:srgbClr val="E0D6DE"/>
                </a:solidFill>
                <a:highlight>
                  <a:srgbClr val="191231"/>
                </a:highlight>
                <a:latin typeface="Consolas" pitchFamily="34" charset="0"/>
                <a:ea typeface="Consolas" pitchFamily="34" charset="-122"/>
                <a:cs typeface="Consolas" pitchFamily="34" charset="-120"/>
              </a:rPr>
              <a:t>int choice</a:t>
            </a:r>
            <a:r>
              <a:rPr lang="en-US" sz="1500" kern="0" spc="-30" dirty="0">
                <a:solidFill>
                  <a:srgbClr val="E0D6DE"/>
                </a:solidFill>
                <a:latin typeface="Inter" pitchFamily="34" charset="0"/>
                <a:ea typeface="Inter" pitchFamily="34" charset="-122"/>
                <a:cs typeface="Inter" pitchFamily="34" charset="-120"/>
              </a:rPr>
              <a:t>, </a:t>
            </a:r>
            <a:r>
              <a:rPr lang="en-US" sz="1500" kern="0" spc="-30" dirty="0">
                <a:solidFill>
                  <a:srgbClr val="E0D6DE"/>
                </a:solidFill>
                <a:highlight>
                  <a:srgbClr val="191231"/>
                </a:highlight>
                <a:latin typeface="Consolas" pitchFamily="34" charset="0"/>
                <a:ea typeface="Consolas" pitchFamily="34" charset="-122"/>
                <a:cs typeface="Consolas" pitchFamily="34" charset="-120"/>
              </a:rPr>
              <a:t>int[] stock</a:t>
            </a:r>
            <a:r>
              <a:rPr lang="en-US" sz="1500" kern="0" spc="-30" dirty="0">
                <a:solidFill>
                  <a:srgbClr val="E0D6DE"/>
                </a:solidFill>
                <a:latin typeface="Inter" pitchFamily="34" charset="0"/>
                <a:ea typeface="Inter" pitchFamily="34" charset="-122"/>
                <a:cs typeface="Inter" pitchFamily="34" charset="-120"/>
              </a:rPr>
              <a:t>, </a:t>
            </a:r>
            <a:r>
              <a:rPr lang="en-US" sz="1500" kern="0" spc="-30" dirty="0">
                <a:solidFill>
                  <a:srgbClr val="E0D6DE"/>
                </a:solidFill>
                <a:highlight>
                  <a:srgbClr val="191231"/>
                </a:highlight>
                <a:latin typeface="Consolas" pitchFamily="34" charset="0"/>
                <a:ea typeface="Consolas" pitchFamily="34" charset="-122"/>
                <a:cs typeface="Consolas" pitchFamily="34" charset="-120"/>
              </a:rPr>
              <a:t>double payment</a:t>
            </a:r>
            <a:r>
              <a:rPr lang="en-US" sz="1500" kern="0" spc="-30" dirty="0">
                <a:solidFill>
                  <a:srgbClr val="E0D6DE"/>
                </a:solidFill>
                <a:latin typeface="Inter" pitchFamily="34" charset="0"/>
                <a:ea typeface="Inter" pitchFamily="34" charset="-122"/>
                <a:cs typeface="Inter" pitchFamily="34" charset="-120"/>
              </a:rPr>
              <a:t> — meaningful camelCase names reflect real-world roles</a:t>
            </a:r>
            <a:endParaRPr lang="en-US" sz="1500" dirty="0"/>
          </a:p>
        </p:txBody>
      </p:sp>
      <p:sp>
        <p:nvSpPr>
          <p:cNvPr id="6" name="Shape 4"/>
          <p:cNvSpPr/>
          <p:nvPr/>
        </p:nvSpPr>
        <p:spPr>
          <a:xfrm>
            <a:off x="6190301" y="2405063"/>
            <a:ext cx="5339919" cy="1425377"/>
          </a:xfrm>
          <a:prstGeom prst="roundRect">
            <a:avLst>
              <a:gd name="adj" fmla="val 5570"/>
            </a:avLst>
          </a:prstGeom>
          <a:solidFill>
            <a:srgbClr val="2F1D63"/>
          </a:solidFill>
          <a:ln w="6350">
            <a:solidFill>
              <a:srgbClr val="48367C"/>
            </a:solidFill>
            <a:prstDash val="solid"/>
          </a:ln>
        </p:spPr>
      </p:sp>
      <p:sp>
        <p:nvSpPr>
          <p:cNvPr id="7" name="Text 5"/>
          <p:cNvSpPr/>
          <p:nvPr/>
        </p:nvSpPr>
        <p:spPr>
          <a:xfrm>
            <a:off x="6385658" y="2600424"/>
            <a:ext cx="4949205" cy="310059"/>
          </a:xfrm>
          <a:prstGeom prst="rect">
            <a:avLst/>
          </a:prstGeom>
          <a:noFill/>
          <a:ln/>
        </p:spPr>
        <p:txBody>
          <a:bodyPr wrap="none" lIns="0" tIns="0" rIns="0" bIns="0" rtlCol="0" anchor="t"/>
          <a:lstStyle/>
          <a:p>
            <a:pPr marL="0" indent="0" algn="l">
              <a:lnSpc>
                <a:spcPct val="104000"/>
              </a:lnSpc>
              <a:buNone/>
            </a:pPr>
            <a:r>
              <a:rPr lang="en-US" sz="1500" b="1" kern="0" spc="-39" dirty="0">
                <a:solidFill>
                  <a:srgbClr val="E0D6DE"/>
                </a:solidFill>
                <a:latin typeface="Petrona Bold" pitchFamily="34" charset="0"/>
                <a:ea typeface="Petrona Bold" pitchFamily="34" charset="-122"/>
                <a:cs typeface="Petrona Bold" pitchFamily="34" charset="-120"/>
              </a:rPr>
              <a:t>Constants</a:t>
            </a:r>
            <a:endParaRPr lang="en-US" sz="1500" dirty="0"/>
          </a:p>
        </p:txBody>
      </p:sp>
      <p:sp>
        <p:nvSpPr>
          <p:cNvPr id="8" name="Text 6"/>
          <p:cNvSpPr/>
          <p:nvPr/>
        </p:nvSpPr>
        <p:spPr>
          <a:xfrm>
            <a:off x="6385658" y="3023890"/>
            <a:ext cx="4949205" cy="611188"/>
          </a:xfrm>
          <a:prstGeom prst="rect">
            <a:avLst/>
          </a:prstGeom>
          <a:noFill/>
          <a:ln/>
        </p:spPr>
        <p:txBody>
          <a:bodyPr wrap="square" lIns="0" tIns="0" rIns="0" bIns="0" rtlCol="0" anchor="t">
            <a:normAutofit/>
          </a:bodyPr>
          <a:lstStyle/>
          <a:p>
            <a:pPr marL="0" indent="0" algn="l">
              <a:lnSpc>
                <a:spcPct val="133000"/>
              </a:lnSpc>
              <a:buNone/>
            </a:pPr>
            <a:r>
              <a:rPr lang="en-US" sz="1500" kern="0" spc="-30" dirty="0">
                <a:solidFill>
                  <a:srgbClr val="E0D6DE"/>
                </a:solidFill>
                <a:highlight>
                  <a:srgbClr val="191231"/>
                </a:highlight>
                <a:latin typeface="Consolas" pitchFamily="34" charset="0"/>
                <a:ea typeface="Consolas" pitchFamily="34" charset="-122"/>
                <a:cs typeface="Consolas" pitchFamily="34" charset="-120"/>
              </a:rPr>
              <a:t>final int PRODUCT_COUNT = 4;</a:t>
            </a:r>
            <a:r>
              <a:rPr lang="en-US" sz="1500" kern="0" spc="-30" dirty="0">
                <a:solidFill>
                  <a:srgbClr val="E0D6DE"/>
                </a:solidFill>
                <a:latin typeface="Inter" pitchFamily="34" charset="0"/>
                <a:ea typeface="Inter" pitchFamily="34" charset="-122"/>
                <a:cs typeface="Inter" pitchFamily="34" charset="-120"/>
              </a:rPr>
              <a:t> ensures safe, readable, tamper-proof program state</a:t>
            </a:r>
            <a:endParaRPr lang="en-US" sz="1500" dirty="0"/>
          </a:p>
        </p:txBody>
      </p:sp>
      <p:sp>
        <p:nvSpPr>
          <p:cNvPr id="9" name="Shape 7"/>
          <p:cNvSpPr/>
          <p:nvPr/>
        </p:nvSpPr>
        <p:spPr>
          <a:xfrm>
            <a:off x="661475" y="4019451"/>
            <a:ext cx="5339820" cy="1431727"/>
          </a:xfrm>
          <a:prstGeom prst="roundRect">
            <a:avLst>
              <a:gd name="adj" fmla="val 5545"/>
            </a:avLst>
          </a:prstGeom>
          <a:solidFill>
            <a:srgbClr val="2F1D63"/>
          </a:solidFill>
          <a:ln w="6350">
            <a:solidFill>
              <a:srgbClr val="48367C"/>
            </a:solidFill>
            <a:prstDash val="solid"/>
          </a:ln>
        </p:spPr>
      </p:sp>
      <p:sp>
        <p:nvSpPr>
          <p:cNvPr id="10" name="Text 8"/>
          <p:cNvSpPr/>
          <p:nvPr/>
        </p:nvSpPr>
        <p:spPr>
          <a:xfrm>
            <a:off x="856832" y="4214813"/>
            <a:ext cx="4949106" cy="310059"/>
          </a:xfrm>
          <a:prstGeom prst="rect">
            <a:avLst/>
          </a:prstGeom>
          <a:noFill/>
          <a:ln/>
        </p:spPr>
        <p:txBody>
          <a:bodyPr wrap="none" lIns="0" tIns="0" rIns="0" bIns="0" rtlCol="0" anchor="t"/>
          <a:lstStyle/>
          <a:p>
            <a:pPr marL="0" indent="0" algn="l">
              <a:lnSpc>
                <a:spcPct val="104000"/>
              </a:lnSpc>
              <a:buNone/>
            </a:pPr>
            <a:r>
              <a:rPr lang="en-US" sz="1500" b="1" kern="0" spc="-39" dirty="0">
                <a:solidFill>
                  <a:srgbClr val="E0D6DE"/>
                </a:solidFill>
                <a:latin typeface="Petrona Bold" pitchFamily="34" charset="0"/>
                <a:ea typeface="Petrona Bold" pitchFamily="34" charset="-122"/>
                <a:cs typeface="Petrona Bold" pitchFamily="34" charset="-120"/>
              </a:rPr>
              <a:t>Console I/O</a:t>
            </a:r>
            <a:endParaRPr lang="en-US" sz="1500" dirty="0"/>
          </a:p>
        </p:txBody>
      </p:sp>
      <p:sp>
        <p:nvSpPr>
          <p:cNvPr id="11" name="Text 9"/>
          <p:cNvSpPr/>
          <p:nvPr/>
        </p:nvSpPr>
        <p:spPr>
          <a:xfrm>
            <a:off x="856832" y="4638278"/>
            <a:ext cx="4949106" cy="617538"/>
          </a:xfrm>
          <a:prstGeom prst="rect">
            <a:avLst/>
          </a:prstGeom>
          <a:noFill/>
          <a:ln/>
        </p:spPr>
        <p:txBody>
          <a:bodyPr wrap="square" lIns="0" tIns="0" rIns="0" bIns="0" rtlCol="0" anchor="t">
            <a:normAutofit/>
          </a:bodyPr>
          <a:lstStyle/>
          <a:p>
            <a:pPr marL="0" indent="0" algn="l">
              <a:lnSpc>
                <a:spcPct val="133000"/>
              </a:lnSpc>
              <a:buNone/>
            </a:pPr>
            <a:r>
              <a:rPr lang="en-US" sz="1500" kern="0" spc="-30" dirty="0">
                <a:solidFill>
                  <a:srgbClr val="E0D6DE"/>
                </a:solidFill>
                <a:highlight>
                  <a:srgbClr val="191231"/>
                </a:highlight>
                <a:latin typeface="Consolas" pitchFamily="34" charset="0"/>
                <a:ea typeface="Consolas" pitchFamily="34" charset="-122"/>
                <a:cs typeface="Consolas" pitchFamily="34" charset="-120"/>
              </a:rPr>
              <a:t>Scanner</a:t>
            </a:r>
            <a:r>
              <a:rPr lang="en-US" sz="1500" kern="0" spc="-30" dirty="0">
                <a:solidFill>
                  <a:srgbClr val="E0D6DE"/>
                </a:solidFill>
                <a:latin typeface="Inter" pitchFamily="34" charset="0"/>
                <a:ea typeface="Inter" pitchFamily="34" charset="-122"/>
                <a:cs typeface="Inter" pitchFamily="34" charset="-120"/>
              </a:rPr>
              <a:t> reads selections; </a:t>
            </a:r>
            <a:r>
              <a:rPr lang="en-US" sz="1500" kern="0" spc="-30" dirty="0">
                <a:solidFill>
                  <a:srgbClr val="E0D6DE"/>
                </a:solidFill>
                <a:highlight>
                  <a:srgbClr val="191231"/>
                </a:highlight>
                <a:latin typeface="Consolas" pitchFamily="34" charset="0"/>
                <a:ea typeface="Consolas" pitchFamily="34" charset="-122"/>
                <a:cs typeface="Consolas" pitchFamily="34" charset="-120"/>
              </a:rPr>
              <a:t>System.out.printf("Price: $%.2f%n", price)</a:t>
            </a:r>
            <a:r>
              <a:rPr lang="en-US" sz="1500" kern="0" spc="-30" dirty="0">
                <a:solidFill>
                  <a:srgbClr val="E0D6DE"/>
                </a:solidFill>
                <a:latin typeface="Inter" pitchFamily="34" charset="0"/>
                <a:ea typeface="Inter" pitchFamily="34" charset="-122"/>
                <a:cs typeface="Inter" pitchFamily="34" charset="-120"/>
              </a:rPr>
              <a:t> formats currency output</a:t>
            </a:r>
            <a:endParaRPr lang="en-US" sz="1500" dirty="0"/>
          </a:p>
        </p:txBody>
      </p:sp>
      <p:sp>
        <p:nvSpPr>
          <p:cNvPr id="12" name="Shape 10"/>
          <p:cNvSpPr/>
          <p:nvPr/>
        </p:nvSpPr>
        <p:spPr>
          <a:xfrm>
            <a:off x="6190301" y="4019451"/>
            <a:ext cx="5339919" cy="1431727"/>
          </a:xfrm>
          <a:prstGeom prst="roundRect">
            <a:avLst>
              <a:gd name="adj" fmla="val 5545"/>
            </a:avLst>
          </a:prstGeom>
          <a:solidFill>
            <a:srgbClr val="2F1D63"/>
          </a:solidFill>
          <a:ln w="6350">
            <a:solidFill>
              <a:srgbClr val="48367C"/>
            </a:solidFill>
            <a:prstDash val="solid"/>
          </a:ln>
        </p:spPr>
      </p:sp>
      <p:sp>
        <p:nvSpPr>
          <p:cNvPr id="13" name="Text 11"/>
          <p:cNvSpPr/>
          <p:nvPr/>
        </p:nvSpPr>
        <p:spPr>
          <a:xfrm>
            <a:off x="6385658" y="4214813"/>
            <a:ext cx="4949205" cy="310059"/>
          </a:xfrm>
          <a:prstGeom prst="rect">
            <a:avLst/>
          </a:prstGeom>
          <a:noFill/>
          <a:ln/>
        </p:spPr>
        <p:txBody>
          <a:bodyPr wrap="none" lIns="0" tIns="0" rIns="0" bIns="0" rtlCol="0" anchor="t"/>
          <a:lstStyle/>
          <a:p>
            <a:pPr marL="0" indent="0" algn="l">
              <a:lnSpc>
                <a:spcPct val="104000"/>
              </a:lnSpc>
              <a:buNone/>
            </a:pPr>
            <a:r>
              <a:rPr lang="en-US" sz="1500" b="1" kern="0" spc="-39" dirty="0">
                <a:solidFill>
                  <a:srgbClr val="E0D6DE"/>
                </a:solidFill>
                <a:latin typeface="Petrona Bold" pitchFamily="34" charset="0"/>
                <a:ea typeface="Petrona Bold" pitchFamily="34" charset="-122"/>
                <a:cs typeface="Petrona Bold" pitchFamily="34" charset="-120"/>
              </a:rPr>
              <a:t>OOP Extension</a:t>
            </a:r>
            <a:endParaRPr lang="en-US" sz="1500" dirty="0"/>
          </a:p>
        </p:txBody>
      </p:sp>
      <p:sp>
        <p:nvSpPr>
          <p:cNvPr id="14" name="Text 12"/>
          <p:cNvSpPr/>
          <p:nvPr/>
        </p:nvSpPr>
        <p:spPr>
          <a:xfrm>
            <a:off x="6385658" y="4638278"/>
            <a:ext cx="4949205" cy="611188"/>
          </a:xfrm>
          <a:prstGeom prst="rect">
            <a:avLst/>
          </a:prstGeom>
          <a:noFill/>
          <a:ln/>
        </p:spPr>
        <p:txBody>
          <a:bodyPr wrap="square" lIns="0" tIns="0" rIns="0" bIns="0" rtlCol="0" anchor="t">
            <a:normAutofit/>
          </a:bodyPr>
          <a:lstStyle/>
          <a:p>
            <a:pPr marL="0" indent="0" algn="l">
              <a:lnSpc>
                <a:spcPct val="133000"/>
              </a:lnSpc>
              <a:buNone/>
            </a:pPr>
            <a:r>
              <a:rPr lang="en-US" sz="1500" kern="0" spc="-30" dirty="0">
                <a:solidFill>
                  <a:srgbClr val="E0D6DE"/>
                </a:solidFill>
                <a:latin typeface="Inter" pitchFamily="34" charset="0"/>
                <a:ea typeface="Inter" pitchFamily="34" charset="-122"/>
                <a:cs typeface="Inter" pitchFamily="34" charset="-120"/>
              </a:rPr>
              <a:t>A </a:t>
            </a:r>
            <a:r>
              <a:rPr lang="en-US" sz="1500" kern="0" spc="-30" dirty="0">
                <a:solidFill>
                  <a:srgbClr val="E0D6DE"/>
                </a:solidFill>
                <a:highlight>
                  <a:srgbClr val="191231"/>
                </a:highlight>
                <a:latin typeface="Consolas" pitchFamily="34" charset="0"/>
                <a:ea typeface="Consolas" pitchFamily="34" charset="-122"/>
                <a:cs typeface="Consolas" pitchFamily="34" charset="-120"/>
              </a:rPr>
              <a:t>Product</a:t>
            </a:r>
            <a:r>
              <a:rPr lang="en-US" sz="1500" kern="0" spc="-30" dirty="0">
                <a:solidFill>
                  <a:srgbClr val="E0D6DE"/>
                </a:solidFill>
                <a:latin typeface="Inter" pitchFamily="34" charset="0"/>
                <a:ea typeface="Inter" pitchFamily="34" charset="-122"/>
                <a:cs typeface="Inter" pitchFamily="34" charset="-120"/>
              </a:rPr>
              <a:t> class encapsulates name, price, and stock; a controller class coordinates the sale</a:t>
            </a:r>
            <a:endParaRPr lang="en-US" sz="1500" dirty="0"/>
          </a:p>
        </p:txBody>
      </p:sp>
      <p:pic>
        <p:nvPicPr>
          <p:cNvPr id="16" name="Picture 15">
            <a:extLst>
              <a:ext uri="{FF2B5EF4-FFF2-40B4-BE49-F238E27FC236}">
                <a16:creationId xmlns:a16="http://schemas.microsoft.com/office/drawing/2014/main" id="{A912A080-BE8B-5BAA-25AB-F2048D171629}"/>
              </a:ext>
            </a:extLst>
          </p:cNvPr>
          <p:cNvPicPr>
            <a:picLocks noChangeAspect="1"/>
          </p:cNvPicPr>
          <p:nvPr/>
        </p:nvPicPr>
        <p:blipFill>
          <a:blip r:embed="rId3"/>
          <a:stretch>
            <a:fillRect/>
          </a:stretch>
        </p:blipFill>
        <p:spPr>
          <a:xfrm>
            <a:off x="10996049" y="0"/>
            <a:ext cx="1195951" cy="4952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45306"/>
            <a:ext cx="10868745" cy="581422"/>
          </a:xfrm>
          <a:prstGeom prst="rect">
            <a:avLst/>
          </a:prstGeom>
          <a:noFill/>
          <a:ln/>
        </p:spPr>
        <p:txBody>
          <a:bodyPr wrap="none" lIns="0" tIns="0" rIns="0" bIns="0" rtlCol="0" anchor="t"/>
          <a:lstStyle/>
          <a:p>
            <a:pPr marL="0" indent="0" algn="l">
              <a:lnSpc>
                <a:spcPct val="104000"/>
              </a:lnSpc>
              <a:buNone/>
            </a:pPr>
            <a:r>
              <a:rPr lang="en-US" sz="3650" b="1" kern="0" spc="-73" dirty="0">
                <a:solidFill>
                  <a:srgbClr val="FF8AAF"/>
                </a:solidFill>
                <a:latin typeface="Petrona Bold" pitchFamily="34" charset="0"/>
                <a:ea typeface="Petrona Bold" pitchFamily="34" charset="-122"/>
                <a:cs typeface="Petrona Bold" pitchFamily="34" charset="-120"/>
              </a:rPr>
              <a:t>Transaction Decisions and Accurate Change</a:t>
            </a:r>
            <a:endParaRPr lang="en-US" sz="3650" dirty="0"/>
          </a:p>
        </p:txBody>
      </p:sp>
      <p:sp>
        <p:nvSpPr>
          <p:cNvPr id="3" name="Text 1"/>
          <p:cNvSpPr/>
          <p:nvPr/>
        </p:nvSpPr>
        <p:spPr>
          <a:xfrm>
            <a:off x="661475" y="1541959"/>
            <a:ext cx="5218280" cy="290711"/>
          </a:xfrm>
          <a:prstGeom prst="rect">
            <a:avLst/>
          </a:prstGeom>
          <a:noFill/>
          <a:ln/>
        </p:spPr>
        <p:txBody>
          <a:bodyPr wrap="none" lIns="0" tIns="0" rIns="0" bIns="0" rtlCol="0" anchor="t"/>
          <a:lstStyle/>
          <a:p>
            <a:pPr marL="0" indent="0" algn="l">
              <a:lnSpc>
                <a:spcPct val="104000"/>
              </a:lnSpc>
              <a:buNone/>
            </a:pPr>
            <a:r>
              <a:rPr lang="en-US" sz="1800" b="1" kern="0" spc="-37" dirty="0">
                <a:solidFill>
                  <a:srgbClr val="FF8AAF"/>
                </a:solidFill>
                <a:latin typeface="Petrona Bold" pitchFamily="34" charset="0"/>
                <a:ea typeface="Petrona Bold" pitchFamily="34" charset="-122"/>
                <a:cs typeface="Petrona Bold" pitchFamily="34" charset="-120"/>
              </a:rPr>
              <a:t>Conditional Logic</a:t>
            </a:r>
            <a:endParaRPr lang="en-US" sz="1800" dirty="0"/>
          </a:p>
        </p:txBody>
      </p:sp>
      <p:sp>
        <p:nvSpPr>
          <p:cNvPr id="4" name="Text 2"/>
          <p:cNvSpPr/>
          <p:nvPr/>
        </p:nvSpPr>
        <p:spPr>
          <a:xfrm>
            <a:off x="661475" y="1998762"/>
            <a:ext cx="5218280" cy="830262"/>
          </a:xfrm>
          <a:prstGeom prst="rect">
            <a:avLst/>
          </a:prstGeom>
          <a:noFill/>
          <a:ln/>
        </p:spPr>
        <p:txBody>
          <a:bodyPr wrap="square" lIns="0" tIns="0" rIns="0" bIns="0" rtlCol="0" anchor="t">
            <a:normAutofit/>
          </a:bodyPr>
          <a:lstStyle/>
          <a:p>
            <a:pPr marL="0" indent="0" algn="l">
              <a:lnSpc>
                <a:spcPct val="129000"/>
              </a:lnSpc>
              <a:buNone/>
            </a:pPr>
            <a:r>
              <a:rPr lang="en-US" sz="1350" kern="0" spc="-28" dirty="0">
                <a:solidFill>
                  <a:srgbClr val="E0D6DE"/>
                </a:solidFill>
                <a:latin typeface="Inter" pitchFamily="34" charset="0"/>
                <a:ea typeface="Inter" pitchFamily="34" charset="-122"/>
                <a:cs typeface="Inter" pitchFamily="34" charset="-120"/>
              </a:rPr>
              <a:t>Layered </a:t>
            </a:r>
            <a:r>
              <a:rPr lang="en-US" sz="1350" kern="0" spc="-28" dirty="0">
                <a:solidFill>
                  <a:srgbClr val="E0D6DE"/>
                </a:solidFill>
                <a:highlight>
                  <a:srgbClr val="191231"/>
                </a:highlight>
                <a:latin typeface="Consolas" pitchFamily="34" charset="0"/>
                <a:ea typeface="Consolas" pitchFamily="34" charset="-122"/>
                <a:cs typeface="Consolas" pitchFamily="34" charset="-120"/>
              </a:rPr>
              <a:t>if/else-if/else</a:t>
            </a:r>
            <a:r>
              <a:rPr lang="en-US" sz="1350" kern="0" spc="-28" dirty="0">
                <a:solidFill>
                  <a:srgbClr val="E0D6DE"/>
                </a:solidFill>
                <a:latin typeface="Inter" pitchFamily="34" charset="0"/>
                <a:ea typeface="Inter" pitchFamily="34" charset="-122"/>
                <a:cs typeface="Inter" pitchFamily="34" charset="-120"/>
              </a:rPr>
              <a:t> guards every transaction step — rejecting invalid items, checking stock, then validating payment in sequence.</a:t>
            </a:r>
            <a:endParaRPr lang="en-US" sz="1350" dirty="0"/>
          </a:p>
        </p:txBody>
      </p:sp>
      <p:sp>
        <p:nvSpPr>
          <p:cNvPr id="5" name="Shape 3"/>
          <p:cNvSpPr/>
          <p:nvPr/>
        </p:nvSpPr>
        <p:spPr>
          <a:xfrm>
            <a:off x="661475" y="3015853"/>
            <a:ext cx="5218280" cy="2905621"/>
          </a:xfrm>
          <a:prstGeom prst="roundRect">
            <a:avLst>
              <a:gd name="adj" fmla="val 2561"/>
            </a:avLst>
          </a:prstGeom>
          <a:solidFill>
            <a:srgbClr val="191231"/>
          </a:solidFill>
          <a:ln/>
        </p:spPr>
      </p:sp>
      <p:sp>
        <p:nvSpPr>
          <p:cNvPr id="6" name="Text 4"/>
          <p:cNvSpPr/>
          <p:nvPr/>
        </p:nvSpPr>
        <p:spPr>
          <a:xfrm>
            <a:off x="874095" y="3193058"/>
            <a:ext cx="4793039" cy="2551212"/>
          </a:xfrm>
          <a:prstGeom prst="rect">
            <a:avLst/>
          </a:prstGeom>
          <a:noFill/>
          <a:ln/>
        </p:spPr>
        <p:txBody>
          <a:bodyPr wrap="square" lIns="0" tIns="0" rIns="0" bIns="0" rtlCol="0" anchor="t">
            <a:normAutofit/>
          </a:bodyPr>
          <a:lstStyle/>
          <a:p>
            <a:pPr marL="0" indent="0" algn="l">
              <a:lnSpc>
                <a:spcPct val="133000"/>
              </a:lnSpc>
              <a:buNone/>
            </a:pPr>
            <a:r>
              <a:rPr lang="en-US" sz="1400" kern="0" spc="-28" dirty="0">
                <a:solidFill>
                  <a:srgbClr val="FF7B72"/>
                </a:solidFill>
                <a:latin typeface="Consolas" pitchFamily="34" charset="0"/>
                <a:ea typeface="Consolas" pitchFamily="34" charset="-122"/>
                <a:cs typeface="Consolas" pitchFamily="34" charset="-120"/>
              </a:rPr>
              <a:t>if (stock[s] == 0) {</a:t>
            </a:r>
            <a:endParaRPr lang="en-US" sz="1400" dirty="0"/>
          </a:p>
          <a:p>
            <a:pPr marL="0" indent="0" algn="l">
              <a:lnSpc>
                <a:spcPct val="133000"/>
              </a:lnSpc>
              <a:buNone/>
            </a:pPr>
            <a:r>
              <a:rPr lang="en-US" sz="1400" kern="0" spc="-28" dirty="0">
                <a:solidFill>
                  <a:srgbClr val="FF7B72"/>
                </a:solidFill>
                <a:latin typeface="Consolas" pitchFamily="34" charset="0"/>
                <a:ea typeface="Consolas" pitchFamily="34" charset="-122"/>
                <a:cs typeface="Consolas" pitchFamily="34" charset="-120"/>
              </a:rPr>
              <a:t>  System.out.println("Out of stock.");</a:t>
            </a:r>
            <a:endParaRPr lang="en-US" sz="1400" dirty="0"/>
          </a:p>
          <a:p>
            <a:pPr marL="0" indent="0" algn="l">
              <a:lnSpc>
                <a:spcPct val="133000"/>
              </a:lnSpc>
              <a:buNone/>
            </a:pPr>
            <a:r>
              <a:rPr lang="en-US" sz="1400" kern="0" spc="-28" dirty="0">
                <a:solidFill>
                  <a:srgbClr val="FF7B72"/>
                </a:solidFill>
                <a:latin typeface="Consolas" pitchFamily="34" charset="0"/>
                <a:ea typeface="Consolas" pitchFamily="34" charset="-122"/>
                <a:cs typeface="Consolas" pitchFamily="34" charset="-120"/>
              </a:rPr>
              <a:t>} else if (payment &gt;= prices[s]) {</a:t>
            </a:r>
            <a:endParaRPr lang="en-US" sz="1400" dirty="0"/>
          </a:p>
          <a:p>
            <a:pPr marL="0" indent="0" algn="l">
              <a:lnSpc>
                <a:spcPct val="133000"/>
              </a:lnSpc>
              <a:buNone/>
            </a:pPr>
            <a:r>
              <a:rPr lang="en-US" sz="1400" kern="0" spc="-28" dirty="0">
                <a:solidFill>
                  <a:srgbClr val="FF7B72"/>
                </a:solidFill>
                <a:latin typeface="Consolas" pitchFamily="34" charset="0"/>
                <a:ea typeface="Consolas" pitchFamily="34" charset="-122"/>
                <a:cs typeface="Consolas" pitchFamily="34" charset="-120"/>
              </a:rPr>
              <a:t>  double change = payment - prices[s];</a:t>
            </a:r>
            <a:endParaRPr lang="en-US" sz="1400" dirty="0"/>
          </a:p>
          <a:p>
            <a:pPr marL="0" indent="0" algn="l">
              <a:lnSpc>
                <a:spcPct val="133000"/>
              </a:lnSpc>
              <a:buNone/>
            </a:pPr>
            <a:r>
              <a:rPr lang="en-US" sz="1400" kern="0" spc="-28" dirty="0">
                <a:solidFill>
                  <a:srgbClr val="FF7B72"/>
                </a:solidFill>
                <a:latin typeface="Consolas" pitchFamily="34" charset="0"/>
                <a:ea typeface="Consolas" pitchFamily="34" charset="-122"/>
                <a:cs typeface="Consolas" pitchFamily="34" charset="-120"/>
              </a:rPr>
              <a:t>  int cents = (int) Math.round(change * 100);</a:t>
            </a:r>
            <a:endParaRPr lang="en-US" sz="1400" dirty="0"/>
          </a:p>
          <a:p>
            <a:pPr marL="0" indent="0" algn="l">
              <a:lnSpc>
                <a:spcPct val="133000"/>
              </a:lnSpc>
              <a:buNone/>
            </a:pPr>
            <a:r>
              <a:rPr lang="en-US" sz="1400" kern="0" spc="-28" dirty="0">
                <a:solidFill>
                  <a:srgbClr val="FF7B72"/>
                </a:solidFill>
                <a:latin typeface="Consolas" pitchFamily="34" charset="0"/>
                <a:ea typeface="Consolas" pitchFamily="34" charset="-122"/>
                <a:cs typeface="Consolas" pitchFamily="34" charset="-120"/>
              </a:rPr>
              <a:t>  stock[s]--;</a:t>
            </a:r>
            <a:endParaRPr lang="en-US" sz="1400" dirty="0"/>
          </a:p>
          <a:p>
            <a:pPr marL="0" indent="0" algn="l">
              <a:lnSpc>
                <a:spcPct val="133000"/>
              </a:lnSpc>
              <a:buNone/>
            </a:pPr>
            <a:r>
              <a:rPr lang="en-US" sz="1400" kern="0" spc="-28" dirty="0">
                <a:solidFill>
                  <a:srgbClr val="FF7B72"/>
                </a:solidFill>
                <a:latin typeface="Consolas" pitchFamily="34" charset="0"/>
                <a:ea typeface="Consolas" pitchFamily="34" charset="-122"/>
                <a:cs typeface="Consolas" pitchFamily="34" charset="-120"/>
              </a:rPr>
              <a:t>} else {</a:t>
            </a:r>
            <a:endParaRPr lang="en-US" sz="1400" dirty="0"/>
          </a:p>
          <a:p>
            <a:pPr marL="0" indent="0" algn="l">
              <a:lnSpc>
                <a:spcPct val="133000"/>
              </a:lnSpc>
              <a:buNone/>
            </a:pPr>
            <a:r>
              <a:rPr lang="en-US" sz="1400" kern="0" spc="-28" dirty="0">
                <a:solidFill>
                  <a:srgbClr val="FF7B72"/>
                </a:solidFill>
                <a:latin typeface="Consolas" pitchFamily="34" charset="0"/>
                <a:ea typeface="Consolas" pitchFamily="34" charset="-122"/>
                <a:cs typeface="Consolas" pitchFamily="34" charset="-120"/>
              </a:rPr>
              <a:t>  System.out.println("Insufficient funds.");</a:t>
            </a:r>
            <a:endParaRPr lang="en-US" sz="1400" dirty="0"/>
          </a:p>
          <a:p>
            <a:pPr marL="0" indent="0" algn="l">
              <a:lnSpc>
                <a:spcPct val="133000"/>
              </a:lnSpc>
              <a:buNone/>
            </a:pPr>
            <a:r>
              <a:rPr lang="en-US" sz="1400" kern="0" spc="-28" dirty="0">
                <a:solidFill>
                  <a:srgbClr val="FF7B72"/>
                </a:solidFill>
                <a:latin typeface="Consolas" pitchFamily="34" charset="0"/>
                <a:ea typeface="Consolas" pitchFamily="34" charset="-122"/>
                <a:cs typeface="Consolas" pitchFamily="34" charset="-120"/>
              </a:rPr>
              <a:t>}</a:t>
            </a:r>
            <a:endParaRPr lang="en-US" sz="14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8290" y="1562695"/>
            <a:ext cx="2526046" cy="2479477"/>
          </a:xfrm>
          <a:prstGeom prst="rect">
            <a:avLst/>
          </a:prstGeom>
        </p:spPr>
      </p:pic>
      <p:sp>
        <p:nvSpPr>
          <p:cNvPr id="8" name="Text 5"/>
          <p:cNvSpPr/>
          <p:nvPr/>
        </p:nvSpPr>
        <p:spPr>
          <a:xfrm>
            <a:off x="7474954" y="1695549"/>
            <a:ext cx="212620" cy="265807"/>
          </a:xfrm>
          <a:prstGeom prst="rect">
            <a:avLst/>
          </a:prstGeom>
          <a:noFill/>
          <a:ln/>
        </p:spPr>
        <p:txBody>
          <a:bodyPr wrap="none" lIns="0" tIns="0" rIns="0" bIns="0" rtlCol="0" anchor="ctr"/>
          <a:lstStyle/>
          <a:p>
            <a:pPr marL="0" indent="0" algn="ctr">
              <a:lnSpc>
                <a:spcPct val="100000"/>
              </a:lnSpc>
              <a:buNone/>
            </a:pPr>
            <a:r>
              <a:rPr lang="en-US" sz="1650" b="1" kern="0" spc="-28" dirty="0">
                <a:solidFill>
                  <a:srgbClr val="FFFFFF"/>
                </a:solidFill>
                <a:latin typeface="Petrona Bold" pitchFamily="34" charset="0"/>
                <a:ea typeface="Petrona Bold" pitchFamily="34" charset="-122"/>
                <a:cs typeface="Petrona Bold" pitchFamily="34" charset="-120"/>
              </a:rPr>
              <a:t>1</a:t>
            </a:r>
            <a:endParaRPr lang="en-US" sz="1650" dirty="0"/>
          </a:p>
        </p:txBody>
      </p:sp>
      <p:sp>
        <p:nvSpPr>
          <p:cNvPr id="9" name="Text 6"/>
          <p:cNvSpPr/>
          <p:nvPr/>
        </p:nvSpPr>
        <p:spPr>
          <a:xfrm>
            <a:off x="6514540" y="2271514"/>
            <a:ext cx="2133547" cy="290711"/>
          </a:xfrm>
          <a:prstGeom prst="rect">
            <a:avLst/>
          </a:prstGeom>
          <a:noFill/>
          <a:ln/>
        </p:spPr>
        <p:txBody>
          <a:bodyPr wrap="none" lIns="0" tIns="0" rIns="0" bIns="0" rtlCol="0" anchor="t"/>
          <a:lstStyle/>
          <a:p>
            <a:pPr marL="0" indent="0" algn="l">
              <a:lnSpc>
                <a:spcPct val="104000"/>
              </a:lnSpc>
              <a:buNone/>
            </a:pPr>
            <a:r>
              <a:rPr lang="en-US" sz="1800" b="1" kern="0" spc="-37" dirty="0">
                <a:solidFill>
                  <a:srgbClr val="E0D6DE"/>
                </a:solidFill>
                <a:latin typeface="Petrona Bold" pitchFamily="34" charset="0"/>
                <a:ea typeface="Petrona Bold" pitchFamily="34" charset="-122"/>
                <a:cs typeface="Petrona Bold" pitchFamily="34" charset="-120"/>
              </a:rPr>
              <a:t>Combine Rules</a:t>
            </a:r>
            <a:endParaRPr lang="en-US" sz="1800" dirty="0"/>
          </a:p>
        </p:txBody>
      </p:sp>
      <p:sp>
        <p:nvSpPr>
          <p:cNvPr id="10" name="Text 7"/>
          <p:cNvSpPr/>
          <p:nvPr/>
        </p:nvSpPr>
        <p:spPr>
          <a:xfrm>
            <a:off x="6514540" y="2728317"/>
            <a:ext cx="2133547" cy="1117600"/>
          </a:xfrm>
          <a:prstGeom prst="rect">
            <a:avLst/>
          </a:prstGeom>
          <a:noFill/>
          <a:ln/>
        </p:spPr>
        <p:txBody>
          <a:bodyPr wrap="square" lIns="0" tIns="0" rIns="0" bIns="0" rtlCol="0" anchor="t">
            <a:normAutofit/>
          </a:bodyPr>
          <a:lstStyle/>
          <a:p>
            <a:pPr marL="0" indent="0" algn="l">
              <a:lnSpc>
                <a:spcPct val="129000"/>
              </a:lnSpc>
              <a:buNone/>
            </a:pPr>
            <a:r>
              <a:rPr lang="en-US" sz="1350" kern="0" spc="-28" dirty="0">
                <a:solidFill>
                  <a:srgbClr val="E0D6DE"/>
                </a:solidFill>
                <a:highlight>
                  <a:srgbClr val="191231"/>
                </a:highlight>
                <a:latin typeface="Consolas" pitchFamily="34" charset="0"/>
                <a:ea typeface="Consolas" pitchFamily="34" charset="-122"/>
                <a:cs typeface="Consolas" pitchFamily="34" charset="-120"/>
              </a:rPr>
              <a:t>payment &gt;= price &amp;&amp; stock &gt; 0</a:t>
            </a:r>
            <a:r>
              <a:rPr lang="en-US" sz="1350" kern="0" spc="-28" dirty="0">
                <a:solidFill>
                  <a:srgbClr val="E0D6DE"/>
                </a:solidFill>
                <a:latin typeface="Inter" pitchFamily="34" charset="0"/>
                <a:ea typeface="Inter" pitchFamily="34" charset="-122"/>
                <a:cs typeface="Inter" pitchFamily="34" charset="-120"/>
              </a:rPr>
              <a:t> — operators </a:t>
            </a:r>
            <a:r>
              <a:rPr lang="en-US" sz="1350" kern="0" spc="-28" dirty="0">
                <a:solidFill>
                  <a:srgbClr val="E0D6DE"/>
                </a:solidFill>
                <a:highlight>
                  <a:srgbClr val="191231"/>
                </a:highlight>
                <a:latin typeface="Consolas" pitchFamily="34" charset="0"/>
                <a:ea typeface="Consolas" pitchFamily="34" charset="-122"/>
                <a:cs typeface="Consolas" pitchFamily="34" charset="-120"/>
              </a:rPr>
              <a:t>&amp;&amp;</a:t>
            </a:r>
            <a:r>
              <a:rPr lang="en-US" sz="1350" kern="0" spc="-28" dirty="0">
                <a:solidFill>
                  <a:srgbClr val="E0D6DE"/>
                </a:solidFill>
                <a:latin typeface="Inter" pitchFamily="34" charset="0"/>
                <a:ea typeface="Inter" pitchFamily="34" charset="-122"/>
                <a:cs typeface="Inter" pitchFamily="34" charset="-120"/>
              </a:rPr>
              <a:t>, </a:t>
            </a:r>
            <a:r>
              <a:rPr lang="en-US" sz="1350" kern="0" spc="-28" dirty="0">
                <a:solidFill>
                  <a:srgbClr val="E0D6DE"/>
                </a:solidFill>
                <a:highlight>
                  <a:srgbClr val="191231"/>
                </a:highlight>
                <a:latin typeface="Consolas" pitchFamily="34" charset="0"/>
                <a:ea typeface="Consolas" pitchFamily="34" charset="-122"/>
                <a:cs typeface="Consolas" pitchFamily="34" charset="-120"/>
              </a:rPr>
              <a:t>||</a:t>
            </a:r>
            <a:r>
              <a:rPr lang="en-US" sz="1350" kern="0" spc="-28" dirty="0">
                <a:solidFill>
                  <a:srgbClr val="E0D6DE"/>
                </a:solidFill>
                <a:latin typeface="Inter" pitchFamily="34" charset="0"/>
                <a:ea typeface="Inter" pitchFamily="34" charset="-122"/>
                <a:cs typeface="Inter" pitchFamily="34" charset="-120"/>
              </a:rPr>
              <a:t>, </a:t>
            </a:r>
            <a:r>
              <a:rPr lang="en-US" sz="1350" kern="0" spc="-28" dirty="0">
                <a:solidFill>
                  <a:srgbClr val="E0D6DE"/>
                </a:solidFill>
                <a:highlight>
                  <a:srgbClr val="191231"/>
                </a:highlight>
                <a:latin typeface="Consolas" pitchFamily="34" charset="0"/>
                <a:ea typeface="Consolas" pitchFamily="34" charset="-122"/>
                <a:cs typeface="Consolas" pitchFamily="34" charset="-120"/>
              </a:rPr>
              <a:t>&gt;=</a:t>
            </a:r>
            <a:r>
              <a:rPr lang="en-US" sz="1350" kern="0" spc="-28" dirty="0">
                <a:solidFill>
                  <a:srgbClr val="E0D6DE"/>
                </a:solidFill>
                <a:latin typeface="Inter" pitchFamily="34" charset="0"/>
                <a:ea typeface="Inter" pitchFamily="34" charset="-122"/>
                <a:cs typeface="Inter" pitchFamily="34" charset="-120"/>
              </a:rPr>
              <a:t>, </a:t>
            </a:r>
            <a:r>
              <a:rPr lang="en-US" sz="1350" kern="0" spc="-28" dirty="0">
                <a:solidFill>
                  <a:srgbClr val="E0D6DE"/>
                </a:solidFill>
                <a:highlight>
                  <a:srgbClr val="191231"/>
                </a:highlight>
                <a:latin typeface="Consolas" pitchFamily="34" charset="0"/>
                <a:ea typeface="Consolas" pitchFamily="34" charset="-122"/>
                <a:cs typeface="Consolas" pitchFamily="34" charset="-120"/>
              </a:rPr>
              <a:t>==</a:t>
            </a:r>
            <a:r>
              <a:rPr lang="en-US" sz="1350" kern="0" spc="-28" dirty="0">
                <a:solidFill>
                  <a:srgbClr val="E0D6DE"/>
                </a:solidFill>
                <a:latin typeface="Inter" pitchFamily="34" charset="0"/>
                <a:ea typeface="Inter" pitchFamily="34" charset="-122"/>
                <a:cs typeface="Inter" pitchFamily="34" charset="-120"/>
              </a:rPr>
              <a:t> compose compound conditions</a:t>
            </a:r>
            <a:endParaRPr lang="en-US" sz="135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10425" y="1562695"/>
            <a:ext cx="2526145" cy="2479477"/>
          </a:xfrm>
          <a:prstGeom prst="rect">
            <a:avLst/>
          </a:prstGeom>
        </p:spPr>
      </p:pic>
      <p:sp>
        <p:nvSpPr>
          <p:cNvPr id="12" name="Text 8"/>
          <p:cNvSpPr/>
          <p:nvPr/>
        </p:nvSpPr>
        <p:spPr>
          <a:xfrm>
            <a:off x="10167088" y="1695549"/>
            <a:ext cx="212620" cy="265807"/>
          </a:xfrm>
          <a:prstGeom prst="rect">
            <a:avLst/>
          </a:prstGeom>
          <a:noFill/>
          <a:ln/>
        </p:spPr>
        <p:txBody>
          <a:bodyPr wrap="none" lIns="0" tIns="0" rIns="0" bIns="0" rtlCol="0" anchor="ctr"/>
          <a:lstStyle/>
          <a:p>
            <a:pPr marL="0" indent="0" algn="ctr">
              <a:lnSpc>
                <a:spcPct val="100000"/>
              </a:lnSpc>
              <a:buNone/>
            </a:pPr>
            <a:r>
              <a:rPr lang="en-US" sz="1650" b="1" kern="0" spc="-28" dirty="0">
                <a:solidFill>
                  <a:srgbClr val="FFFFFF"/>
                </a:solidFill>
                <a:latin typeface="Petrona Bold" pitchFamily="34" charset="0"/>
                <a:ea typeface="Petrona Bold" pitchFamily="34" charset="-122"/>
                <a:cs typeface="Petrona Bold" pitchFamily="34" charset="-120"/>
              </a:rPr>
              <a:t>2</a:t>
            </a:r>
            <a:endParaRPr lang="en-US" sz="1650" dirty="0"/>
          </a:p>
        </p:txBody>
      </p:sp>
      <p:sp>
        <p:nvSpPr>
          <p:cNvPr id="13" name="Text 9"/>
          <p:cNvSpPr/>
          <p:nvPr/>
        </p:nvSpPr>
        <p:spPr>
          <a:xfrm>
            <a:off x="9206674" y="2271514"/>
            <a:ext cx="2133646" cy="290711"/>
          </a:xfrm>
          <a:prstGeom prst="rect">
            <a:avLst/>
          </a:prstGeom>
          <a:noFill/>
          <a:ln/>
        </p:spPr>
        <p:txBody>
          <a:bodyPr wrap="none" lIns="0" tIns="0" rIns="0" bIns="0" rtlCol="0" anchor="t"/>
          <a:lstStyle/>
          <a:p>
            <a:pPr marL="0" indent="0" algn="l">
              <a:lnSpc>
                <a:spcPct val="104000"/>
              </a:lnSpc>
              <a:buNone/>
            </a:pPr>
            <a:r>
              <a:rPr lang="en-US" sz="1800" b="1" kern="0" spc="-37" dirty="0">
                <a:solidFill>
                  <a:srgbClr val="E0D6DE"/>
                </a:solidFill>
                <a:latin typeface="Petrona Bold" pitchFamily="34" charset="0"/>
                <a:ea typeface="Petrona Bold" pitchFamily="34" charset="-122"/>
                <a:cs typeface="Petrona Bold" pitchFamily="34" charset="-120"/>
              </a:rPr>
              <a:t>Calculate Change</a:t>
            </a:r>
            <a:endParaRPr lang="en-US" sz="1800" dirty="0"/>
          </a:p>
        </p:txBody>
      </p:sp>
      <p:sp>
        <p:nvSpPr>
          <p:cNvPr id="14" name="Text 10"/>
          <p:cNvSpPr/>
          <p:nvPr/>
        </p:nvSpPr>
        <p:spPr>
          <a:xfrm>
            <a:off x="9206674" y="2728317"/>
            <a:ext cx="2133646" cy="836613"/>
          </a:xfrm>
          <a:prstGeom prst="rect">
            <a:avLst/>
          </a:prstGeom>
          <a:noFill/>
          <a:ln/>
        </p:spPr>
        <p:txBody>
          <a:bodyPr wrap="square" lIns="0" tIns="0" rIns="0" bIns="0" rtlCol="0" anchor="t">
            <a:normAutofit/>
          </a:bodyPr>
          <a:lstStyle/>
          <a:p>
            <a:pPr marL="0" indent="0" algn="l">
              <a:lnSpc>
                <a:spcPct val="129000"/>
              </a:lnSpc>
              <a:buNone/>
            </a:pPr>
            <a:r>
              <a:rPr lang="en-US" sz="1300" kern="0" spc="-28" dirty="0">
                <a:solidFill>
                  <a:srgbClr val="E0D6DE"/>
                </a:solidFill>
                <a:latin typeface="Inter" pitchFamily="34" charset="0"/>
                <a:ea typeface="Inter" pitchFamily="34" charset="-122"/>
                <a:cs typeface="Inter" pitchFamily="34" charset="-120"/>
              </a:rPr>
              <a:t>Subtraction after validation: </a:t>
            </a:r>
            <a:r>
              <a:rPr lang="en-US" sz="1300" kern="0" spc="-28" dirty="0">
                <a:solidFill>
                  <a:srgbClr val="E0D6DE"/>
                </a:solidFill>
                <a:highlight>
                  <a:srgbClr val="191231"/>
                </a:highlight>
                <a:latin typeface="Consolas" pitchFamily="34" charset="0"/>
                <a:ea typeface="Consolas" pitchFamily="34" charset="-122"/>
                <a:cs typeface="Consolas" pitchFamily="34" charset="-120"/>
              </a:rPr>
              <a:t>change = payment - prices[selected]</a:t>
            </a:r>
            <a:endParaRPr lang="en-US" sz="1300" dirty="0"/>
          </a:p>
        </p:txBody>
      </p:sp>
      <p:pic>
        <p:nvPicPr>
          <p:cNvPr id="15"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8290" y="4208264"/>
            <a:ext cx="5218280" cy="1917502"/>
          </a:xfrm>
          <a:prstGeom prst="rect">
            <a:avLst/>
          </a:prstGeom>
        </p:spPr>
      </p:pic>
      <p:sp>
        <p:nvSpPr>
          <p:cNvPr id="16" name="Text 11"/>
          <p:cNvSpPr/>
          <p:nvPr/>
        </p:nvSpPr>
        <p:spPr>
          <a:xfrm>
            <a:off x="8821021" y="4341118"/>
            <a:ext cx="212620" cy="265807"/>
          </a:xfrm>
          <a:prstGeom prst="rect">
            <a:avLst/>
          </a:prstGeom>
          <a:noFill/>
          <a:ln/>
        </p:spPr>
        <p:txBody>
          <a:bodyPr wrap="none" lIns="0" tIns="0" rIns="0" bIns="0" rtlCol="0" anchor="ctr"/>
          <a:lstStyle/>
          <a:p>
            <a:pPr marL="0" indent="0" algn="ctr">
              <a:lnSpc>
                <a:spcPct val="100000"/>
              </a:lnSpc>
              <a:buNone/>
            </a:pPr>
            <a:r>
              <a:rPr lang="en-US" sz="1650" b="1" kern="0" spc="-28" dirty="0">
                <a:solidFill>
                  <a:srgbClr val="FFFFFF"/>
                </a:solidFill>
                <a:latin typeface="Petrona Bold" pitchFamily="34" charset="0"/>
                <a:ea typeface="Petrona Bold" pitchFamily="34" charset="-122"/>
                <a:cs typeface="Petrona Bold" pitchFamily="34" charset="-120"/>
              </a:rPr>
              <a:t>3</a:t>
            </a:r>
            <a:endParaRPr lang="en-US" sz="1650" dirty="0"/>
          </a:p>
        </p:txBody>
      </p:sp>
      <p:sp>
        <p:nvSpPr>
          <p:cNvPr id="17" name="Text 12"/>
          <p:cNvSpPr/>
          <p:nvPr/>
        </p:nvSpPr>
        <p:spPr>
          <a:xfrm>
            <a:off x="6514540" y="4917083"/>
            <a:ext cx="4825780" cy="290711"/>
          </a:xfrm>
          <a:prstGeom prst="rect">
            <a:avLst/>
          </a:prstGeom>
          <a:noFill/>
          <a:ln/>
        </p:spPr>
        <p:txBody>
          <a:bodyPr wrap="none" lIns="0" tIns="0" rIns="0" bIns="0" rtlCol="0" anchor="t"/>
          <a:lstStyle/>
          <a:p>
            <a:pPr marL="0" indent="0" algn="l">
              <a:lnSpc>
                <a:spcPct val="104000"/>
              </a:lnSpc>
              <a:buNone/>
            </a:pPr>
            <a:r>
              <a:rPr lang="en-US" sz="1800" b="1" kern="0" spc="-37" dirty="0">
                <a:solidFill>
                  <a:srgbClr val="E0D6DE"/>
                </a:solidFill>
                <a:latin typeface="Petrona Bold" pitchFamily="34" charset="0"/>
                <a:ea typeface="Petrona Bold" pitchFamily="34" charset="-122"/>
                <a:cs typeface="Petrona Bold" pitchFamily="34" charset="-120"/>
              </a:rPr>
              <a:t>Numeric Precision</a:t>
            </a:r>
            <a:endParaRPr lang="en-US" sz="1800" dirty="0"/>
          </a:p>
        </p:txBody>
      </p:sp>
      <p:sp>
        <p:nvSpPr>
          <p:cNvPr id="18" name="Text 13"/>
          <p:cNvSpPr/>
          <p:nvPr/>
        </p:nvSpPr>
        <p:spPr>
          <a:xfrm>
            <a:off x="6514540" y="5373886"/>
            <a:ext cx="4825780" cy="555625"/>
          </a:xfrm>
          <a:prstGeom prst="rect">
            <a:avLst/>
          </a:prstGeom>
          <a:noFill/>
          <a:ln/>
        </p:spPr>
        <p:txBody>
          <a:bodyPr wrap="square" lIns="0" tIns="0" rIns="0" bIns="0" rtlCol="0" anchor="t">
            <a:normAutofit/>
          </a:bodyPr>
          <a:lstStyle/>
          <a:p>
            <a:pPr marL="0" indent="0" algn="l">
              <a:lnSpc>
                <a:spcPct val="129000"/>
              </a:lnSpc>
              <a:buNone/>
            </a:pPr>
            <a:r>
              <a:rPr lang="en-US" sz="1350" kern="0" spc="-28" dirty="0">
                <a:solidFill>
                  <a:srgbClr val="E0D6DE"/>
                </a:solidFill>
                <a:highlight>
                  <a:srgbClr val="191231"/>
                </a:highlight>
                <a:latin typeface="Consolas" pitchFamily="34" charset="0"/>
                <a:ea typeface="Consolas" pitchFamily="34" charset="-122"/>
                <a:cs typeface="Consolas" pitchFamily="34" charset="-120"/>
              </a:rPr>
              <a:t>Math.round(change * 100)</a:t>
            </a:r>
            <a:r>
              <a:rPr lang="en-US" sz="1350" kern="0" spc="-28" dirty="0">
                <a:solidFill>
                  <a:srgbClr val="E0D6DE"/>
                </a:solidFill>
                <a:latin typeface="Inter" pitchFamily="34" charset="0"/>
                <a:ea typeface="Inter" pitchFamily="34" charset="-122"/>
                <a:cs typeface="Inter" pitchFamily="34" charset="-120"/>
              </a:rPr>
              <a:t> converts to integer cents — avoids floating-point drift</a:t>
            </a:r>
            <a:endParaRPr lang="en-US" sz="1350" dirty="0"/>
          </a:p>
        </p:txBody>
      </p:sp>
      <p:pic>
        <p:nvPicPr>
          <p:cNvPr id="20" name="Picture 19">
            <a:extLst>
              <a:ext uri="{FF2B5EF4-FFF2-40B4-BE49-F238E27FC236}">
                <a16:creationId xmlns:a16="http://schemas.microsoft.com/office/drawing/2014/main" id="{67912FAE-4DBD-1B54-9133-6AB14BC8D7D5}"/>
              </a:ext>
            </a:extLst>
          </p:cNvPr>
          <p:cNvPicPr>
            <a:picLocks noChangeAspect="1"/>
          </p:cNvPicPr>
          <p:nvPr/>
        </p:nvPicPr>
        <p:blipFill>
          <a:blip r:embed="rId5"/>
          <a:stretch>
            <a:fillRect/>
          </a:stretch>
        </p:blipFill>
        <p:spPr>
          <a:xfrm>
            <a:off x="10996049" y="0"/>
            <a:ext cx="1195951" cy="4952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59693"/>
            <a:ext cx="10868745" cy="523379"/>
          </a:xfrm>
          <a:prstGeom prst="rect">
            <a:avLst/>
          </a:prstGeom>
          <a:noFill/>
          <a:ln/>
        </p:spPr>
        <p:txBody>
          <a:bodyPr wrap="none" lIns="0" tIns="0" rIns="0" bIns="0" rtlCol="0" anchor="t"/>
          <a:lstStyle/>
          <a:p>
            <a:pPr marL="0" indent="0" algn="l">
              <a:lnSpc>
                <a:spcPct val="104000"/>
              </a:lnSpc>
              <a:buNone/>
            </a:pPr>
            <a:r>
              <a:rPr lang="en-US" sz="3250" b="1" kern="0" spc="-66" dirty="0">
                <a:solidFill>
                  <a:srgbClr val="FF8AAF"/>
                </a:solidFill>
                <a:latin typeface="Petrona Bold" pitchFamily="34" charset="0"/>
                <a:ea typeface="Petrona Bold" pitchFamily="34" charset="-122"/>
                <a:cs typeface="Petrona Bold" pitchFamily="34" charset="-120"/>
              </a:rPr>
              <a:t>Keeping the Controller Running: Loops and Program Flow</a:t>
            </a:r>
            <a:endParaRPr lang="en-US" sz="3250" dirty="0"/>
          </a:p>
        </p:txBody>
      </p:sp>
      <p:sp>
        <p:nvSpPr>
          <p:cNvPr id="3" name="Shape 1"/>
          <p:cNvSpPr/>
          <p:nvPr/>
        </p:nvSpPr>
        <p:spPr>
          <a:xfrm>
            <a:off x="661475" y="2821682"/>
            <a:ext cx="10868745" cy="19050"/>
          </a:xfrm>
          <a:prstGeom prst="roundRect">
            <a:avLst>
              <a:gd name="adj" fmla="val 49999"/>
            </a:avLst>
          </a:prstGeom>
          <a:solidFill>
            <a:srgbClr val="48367C"/>
          </a:solidFill>
          <a:ln/>
        </p:spPr>
      </p:sp>
      <p:sp>
        <p:nvSpPr>
          <p:cNvPr id="4" name="Shape 2"/>
          <p:cNvSpPr/>
          <p:nvPr/>
        </p:nvSpPr>
        <p:spPr>
          <a:xfrm>
            <a:off x="2775178" y="2343249"/>
            <a:ext cx="19050" cy="478433"/>
          </a:xfrm>
          <a:prstGeom prst="roundRect">
            <a:avLst>
              <a:gd name="adj" fmla="val 49999"/>
            </a:avLst>
          </a:prstGeom>
          <a:solidFill>
            <a:srgbClr val="48367C"/>
          </a:solidFill>
          <a:ln/>
        </p:spPr>
      </p:sp>
      <p:sp>
        <p:nvSpPr>
          <p:cNvPr id="5" name="Shape 3"/>
          <p:cNvSpPr/>
          <p:nvPr/>
        </p:nvSpPr>
        <p:spPr>
          <a:xfrm>
            <a:off x="2605320" y="2642295"/>
            <a:ext cx="358766" cy="358775"/>
          </a:xfrm>
          <a:prstGeom prst="roundRect">
            <a:avLst>
              <a:gd name="adj" fmla="val 18671"/>
            </a:avLst>
          </a:prstGeom>
          <a:solidFill>
            <a:srgbClr val="2F1D63"/>
          </a:solidFill>
          <a:ln w="6350">
            <a:solidFill>
              <a:srgbClr val="48367C"/>
            </a:solidFill>
            <a:prstDash val="solid"/>
          </a:ln>
        </p:spPr>
      </p:sp>
      <p:sp>
        <p:nvSpPr>
          <p:cNvPr id="6" name="Text 4"/>
          <p:cNvSpPr/>
          <p:nvPr/>
        </p:nvSpPr>
        <p:spPr>
          <a:xfrm>
            <a:off x="2659145" y="2664718"/>
            <a:ext cx="251116" cy="313928"/>
          </a:xfrm>
          <a:prstGeom prst="rect">
            <a:avLst/>
          </a:prstGeom>
          <a:noFill/>
          <a:ln/>
        </p:spPr>
        <p:txBody>
          <a:bodyPr wrap="none" lIns="0" tIns="0" rIns="0" bIns="0" rtlCol="0" anchor="ctr"/>
          <a:lstStyle/>
          <a:p>
            <a:pPr marL="0" indent="0" algn="ctr">
              <a:lnSpc>
                <a:spcPct val="100000"/>
              </a:lnSpc>
              <a:buNone/>
            </a:pPr>
            <a:r>
              <a:rPr lang="en-US" sz="1950" b="1" kern="0" spc="-40" dirty="0">
                <a:solidFill>
                  <a:srgbClr val="E0D6DE"/>
                </a:solidFill>
                <a:latin typeface="Petrona Bold" pitchFamily="34" charset="0"/>
                <a:ea typeface="Petrona Bold" pitchFamily="34" charset="-122"/>
                <a:cs typeface="Petrona Bold" pitchFamily="34" charset="-120"/>
              </a:rPr>
              <a:t>1</a:t>
            </a:r>
            <a:endParaRPr lang="en-US" sz="1950" dirty="0"/>
          </a:p>
        </p:txBody>
      </p:sp>
      <p:sp>
        <p:nvSpPr>
          <p:cNvPr id="7" name="Text 5"/>
          <p:cNvSpPr/>
          <p:nvPr/>
        </p:nvSpPr>
        <p:spPr>
          <a:xfrm>
            <a:off x="820915" y="1352153"/>
            <a:ext cx="3927674" cy="280690"/>
          </a:xfrm>
          <a:prstGeom prst="rect">
            <a:avLst/>
          </a:prstGeom>
          <a:noFill/>
          <a:ln/>
        </p:spPr>
        <p:txBody>
          <a:bodyPr wrap="none" lIns="0" tIns="0" rIns="0" bIns="0" rtlCol="0" anchor="t"/>
          <a:lstStyle/>
          <a:p>
            <a:pPr marL="0" indent="0" algn="ctr">
              <a:lnSpc>
                <a:spcPct val="104000"/>
              </a:lnSpc>
              <a:buNone/>
            </a:pPr>
            <a:r>
              <a:rPr lang="en-US" sz="1600" b="1" kern="0" spc="-33" dirty="0">
                <a:solidFill>
                  <a:srgbClr val="E0D6DE"/>
                </a:solidFill>
                <a:highlight>
                  <a:srgbClr val="191231"/>
                </a:highlight>
                <a:latin typeface="Consolas" pitchFamily="34" charset="0"/>
                <a:ea typeface="Consolas" pitchFamily="34" charset="-122"/>
                <a:cs typeface="Consolas" pitchFamily="34" charset="-120"/>
              </a:rPr>
              <a:t>while (running)</a:t>
            </a:r>
            <a:endParaRPr lang="en-US" sz="1600" dirty="0"/>
          </a:p>
        </p:txBody>
      </p:sp>
      <p:sp>
        <p:nvSpPr>
          <p:cNvPr id="8" name="Text 6"/>
          <p:cNvSpPr/>
          <p:nvPr/>
        </p:nvSpPr>
        <p:spPr>
          <a:xfrm>
            <a:off x="820915" y="1713508"/>
            <a:ext cx="3927674" cy="470297"/>
          </a:xfrm>
          <a:prstGeom prst="rect">
            <a:avLst/>
          </a:prstGeom>
          <a:noFill/>
          <a:ln/>
        </p:spPr>
        <p:txBody>
          <a:bodyPr wrap="square" lIns="0" tIns="0" rIns="0" bIns="0" rtlCol="0" anchor="t">
            <a:normAutofit/>
          </a:bodyPr>
          <a:lstStyle/>
          <a:p>
            <a:pPr marL="0" indent="0" algn="ctr">
              <a:lnSpc>
                <a:spcPct val="123000"/>
              </a:lnSpc>
              <a:buNone/>
            </a:pPr>
            <a:r>
              <a:rPr lang="en-US" sz="1250" kern="0" spc="-25" dirty="0">
                <a:solidFill>
                  <a:srgbClr val="E0D6DE"/>
                </a:solidFill>
                <a:latin typeface="Inter" pitchFamily="34" charset="0"/>
                <a:ea typeface="Inter" pitchFamily="34" charset="-122"/>
                <a:cs typeface="Inter" pitchFamily="34" charset="-120"/>
              </a:rPr>
              <a:t>Main loop displays the menu and processes one full transaction per iteration</a:t>
            </a:r>
            <a:endParaRPr lang="en-US" sz="1250" dirty="0"/>
          </a:p>
        </p:txBody>
      </p:sp>
      <p:sp>
        <p:nvSpPr>
          <p:cNvPr id="9" name="Shape 7"/>
          <p:cNvSpPr/>
          <p:nvPr/>
        </p:nvSpPr>
        <p:spPr>
          <a:xfrm>
            <a:off x="4982542" y="2821682"/>
            <a:ext cx="19050" cy="478433"/>
          </a:xfrm>
          <a:prstGeom prst="roundRect">
            <a:avLst>
              <a:gd name="adj" fmla="val 49999"/>
            </a:avLst>
          </a:prstGeom>
          <a:solidFill>
            <a:srgbClr val="48367C"/>
          </a:solidFill>
          <a:ln/>
        </p:spPr>
      </p:sp>
      <p:sp>
        <p:nvSpPr>
          <p:cNvPr id="10" name="Shape 8"/>
          <p:cNvSpPr/>
          <p:nvPr/>
        </p:nvSpPr>
        <p:spPr>
          <a:xfrm>
            <a:off x="4812684" y="2642295"/>
            <a:ext cx="358766" cy="358775"/>
          </a:xfrm>
          <a:prstGeom prst="roundRect">
            <a:avLst>
              <a:gd name="adj" fmla="val 18671"/>
            </a:avLst>
          </a:prstGeom>
          <a:solidFill>
            <a:srgbClr val="2F1D63"/>
          </a:solidFill>
          <a:ln w="6350">
            <a:solidFill>
              <a:srgbClr val="48367C"/>
            </a:solidFill>
            <a:prstDash val="solid"/>
          </a:ln>
        </p:spPr>
      </p:sp>
      <p:sp>
        <p:nvSpPr>
          <p:cNvPr id="11" name="Text 9"/>
          <p:cNvSpPr/>
          <p:nvPr/>
        </p:nvSpPr>
        <p:spPr>
          <a:xfrm>
            <a:off x="4866508" y="2664718"/>
            <a:ext cx="251116" cy="313928"/>
          </a:xfrm>
          <a:prstGeom prst="rect">
            <a:avLst/>
          </a:prstGeom>
          <a:noFill/>
          <a:ln/>
        </p:spPr>
        <p:txBody>
          <a:bodyPr wrap="none" lIns="0" tIns="0" rIns="0" bIns="0" rtlCol="0" anchor="ctr"/>
          <a:lstStyle/>
          <a:p>
            <a:pPr marL="0" indent="0" algn="ctr">
              <a:lnSpc>
                <a:spcPct val="100000"/>
              </a:lnSpc>
              <a:buNone/>
            </a:pPr>
            <a:r>
              <a:rPr lang="en-US" sz="1950" b="1" kern="0" spc="-40" dirty="0">
                <a:solidFill>
                  <a:srgbClr val="E0D6DE"/>
                </a:solidFill>
                <a:latin typeface="Petrona Bold" pitchFamily="34" charset="0"/>
                <a:ea typeface="Petrona Bold" pitchFamily="34" charset="-122"/>
                <a:cs typeface="Petrona Bold" pitchFamily="34" charset="-120"/>
              </a:rPr>
              <a:t>2</a:t>
            </a:r>
            <a:endParaRPr lang="en-US" sz="1950" dirty="0"/>
          </a:p>
        </p:txBody>
      </p:sp>
      <p:sp>
        <p:nvSpPr>
          <p:cNvPr id="12" name="Text 10"/>
          <p:cNvSpPr/>
          <p:nvPr/>
        </p:nvSpPr>
        <p:spPr>
          <a:xfrm>
            <a:off x="3028279" y="3459559"/>
            <a:ext cx="3927674" cy="261640"/>
          </a:xfrm>
          <a:prstGeom prst="rect">
            <a:avLst/>
          </a:prstGeom>
          <a:noFill/>
          <a:ln/>
        </p:spPr>
        <p:txBody>
          <a:bodyPr wrap="none" lIns="0" tIns="0" rIns="0" bIns="0" rtlCol="0" anchor="t"/>
          <a:lstStyle/>
          <a:p>
            <a:pPr marL="0" indent="0" algn="ctr">
              <a:lnSpc>
                <a:spcPct val="104000"/>
              </a:lnSpc>
              <a:buNone/>
            </a:pPr>
            <a:r>
              <a:rPr lang="en-US" sz="1600" b="1" kern="0" spc="-33" dirty="0">
                <a:solidFill>
                  <a:srgbClr val="E0D6DE"/>
                </a:solidFill>
                <a:latin typeface="Petrona Bold" pitchFamily="34" charset="0"/>
                <a:ea typeface="Petrona Bold" pitchFamily="34" charset="-122"/>
                <a:cs typeface="Petrona Bold" pitchFamily="34" charset="-120"/>
              </a:rPr>
              <a:t>Exit Design</a:t>
            </a:r>
            <a:endParaRPr lang="en-US" sz="1600" dirty="0"/>
          </a:p>
        </p:txBody>
      </p:sp>
      <p:sp>
        <p:nvSpPr>
          <p:cNvPr id="13" name="Text 11"/>
          <p:cNvSpPr/>
          <p:nvPr/>
        </p:nvSpPr>
        <p:spPr>
          <a:xfrm>
            <a:off x="3028279" y="3801864"/>
            <a:ext cx="3927674" cy="476647"/>
          </a:xfrm>
          <a:prstGeom prst="rect">
            <a:avLst/>
          </a:prstGeom>
          <a:noFill/>
          <a:ln/>
        </p:spPr>
        <p:txBody>
          <a:bodyPr wrap="square" lIns="0" tIns="0" rIns="0" bIns="0" rtlCol="0" anchor="t">
            <a:normAutofit/>
          </a:bodyPr>
          <a:lstStyle/>
          <a:p>
            <a:pPr marL="0" indent="0" algn="ctr">
              <a:lnSpc>
                <a:spcPct val="123000"/>
              </a:lnSpc>
              <a:buNone/>
            </a:pPr>
            <a:r>
              <a:rPr lang="en-US" sz="1250" kern="0" spc="-25" dirty="0">
                <a:solidFill>
                  <a:srgbClr val="E0D6DE"/>
                </a:solidFill>
                <a:latin typeface="Inter" pitchFamily="34" charset="0"/>
                <a:ea typeface="Inter" pitchFamily="34" charset="-122"/>
                <a:cs typeface="Inter" pitchFamily="34" charset="-120"/>
              </a:rPr>
              <a:t>Choice </a:t>
            </a:r>
            <a:r>
              <a:rPr lang="en-US" sz="1250" kern="0" spc="-25" dirty="0">
                <a:solidFill>
                  <a:srgbClr val="E0D6DE"/>
                </a:solidFill>
                <a:highlight>
                  <a:srgbClr val="191231"/>
                </a:highlight>
                <a:latin typeface="Consolas" pitchFamily="34" charset="0"/>
                <a:ea typeface="Consolas" pitchFamily="34" charset="-122"/>
                <a:cs typeface="Consolas" pitchFamily="34" charset="-120"/>
              </a:rPr>
              <a:t>0</a:t>
            </a:r>
            <a:r>
              <a:rPr lang="en-US" sz="1250" kern="0" spc="-25" dirty="0">
                <a:solidFill>
                  <a:srgbClr val="E0D6DE"/>
                </a:solidFill>
                <a:latin typeface="Inter" pitchFamily="34" charset="0"/>
                <a:ea typeface="Inter" pitchFamily="34" charset="-122"/>
                <a:cs typeface="Inter" pitchFamily="34" charset="-120"/>
              </a:rPr>
              <a:t> sets </a:t>
            </a:r>
            <a:r>
              <a:rPr lang="en-US" sz="1250" kern="0" spc="-25" dirty="0">
                <a:solidFill>
                  <a:srgbClr val="E0D6DE"/>
                </a:solidFill>
                <a:highlight>
                  <a:srgbClr val="191231"/>
                </a:highlight>
                <a:latin typeface="Consolas" pitchFamily="34" charset="0"/>
                <a:ea typeface="Consolas" pitchFamily="34" charset="-122"/>
                <a:cs typeface="Consolas" pitchFamily="34" charset="-120"/>
              </a:rPr>
              <a:t>running = false</a:t>
            </a:r>
            <a:r>
              <a:rPr lang="en-US" sz="1250" kern="0" spc="-25" dirty="0">
                <a:solidFill>
                  <a:srgbClr val="E0D6DE"/>
                </a:solidFill>
                <a:latin typeface="Inter" pitchFamily="34" charset="0"/>
                <a:ea typeface="Inter" pitchFamily="34" charset="-122"/>
                <a:cs typeface="Inter" pitchFamily="34" charset="-120"/>
              </a:rPr>
              <a:t> — a clean, controlled exit with no infinite loop risk</a:t>
            </a:r>
            <a:endParaRPr lang="en-US" sz="1250" dirty="0"/>
          </a:p>
        </p:txBody>
      </p:sp>
      <p:sp>
        <p:nvSpPr>
          <p:cNvPr id="14" name="Shape 12"/>
          <p:cNvSpPr/>
          <p:nvPr/>
        </p:nvSpPr>
        <p:spPr>
          <a:xfrm>
            <a:off x="7189905" y="2343249"/>
            <a:ext cx="19050" cy="478433"/>
          </a:xfrm>
          <a:prstGeom prst="roundRect">
            <a:avLst>
              <a:gd name="adj" fmla="val 49999"/>
            </a:avLst>
          </a:prstGeom>
          <a:solidFill>
            <a:srgbClr val="48367C"/>
          </a:solidFill>
          <a:ln/>
        </p:spPr>
      </p:sp>
      <p:sp>
        <p:nvSpPr>
          <p:cNvPr id="15" name="Shape 13"/>
          <p:cNvSpPr/>
          <p:nvPr/>
        </p:nvSpPr>
        <p:spPr>
          <a:xfrm>
            <a:off x="7020047" y="2642295"/>
            <a:ext cx="358766" cy="358775"/>
          </a:xfrm>
          <a:prstGeom prst="roundRect">
            <a:avLst>
              <a:gd name="adj" fmla="val 18671"/>
            </a:avLst>
          </a:prstGeom>
          <a:solidFill>
            <a:srgbClr val="2F1D63"/>
          </a:solidFill>
          <a:ln w="6350">
            <a:solidFill>
              <a:srgbClr val="48367C"/>
            </a:solidFill>
            <a:prstDash val="solid"/>
          </a:ln>
        </p:spPr>
      </p:sp>
      <p:sp>
        <p:nvSpPr>
          <p:cNvPr id="16" name="Text 14"/>
          <p:cNvSpPr/>
          <p:nvPr/>
        </p:nvSpPr>
        <p:spPr>
          <a:xfrm>
            <a:off x="7073872" y="2664718"/>
            <a:ext cx="251116" cy="313928"/>
          </a:xfrm>
          <a:prstGeom prst="rect">
            <a:avLst/>
          </a:prstGeom>
          <a:noFill/>
          <a:ln/>
        </p:spPr>
        <p:txBody>
          <a:bodyPr wrap="none" lIns="0" tIns="0" rIns="0" bIns="0" rtlCol="0" anchor="ctr"/>
          <a:lstStyle/>
          <a:p>
            <a:pPr marL="0" indent="0" algn="ctr">
              <a:lnSpc>
                <a:spcPct val="100000"/>
              </a:lnSpc>
              <a:buNone/>
            </a:pPr>
            <a:r>
              <a:rPr lang="en-US" sz="1950" b="1" kern="0" spc="-40" dirty="0">
                <a:solidFill>
                  <a:srgbClr val="E0D6DE"/>
                </a:solidFill>
                <a:latin typeface="Petrona Bold" pitchFamily="34" charset="0"/>
                <a:ea typeface="Petrona Bold" pitchFamily="34" charset="-122"/>
                <a:cs typeface="Petrona Bold" pitchFamily="34" charset="-120"/>
              </a:rPr>
              <a:t>3</a:t>
            </a:r>
            <a:endParaRPr lang="en-US" sz="1950" dirty="0"/>
          </a:p>
        </p:txBody>
      </p:sp>
      <p:sp>
        <p:nvSpPr>
          <p:cNvPr id="17" name="Text 15"/>
          <p:cNvSpPr/>
          <p:nvPr/>
        </p:nvSpPr>
        <p:spPr>
          <a:xfrm>
            <a:off x="5235642" y="1352153"/>
            <a:ext cx="3927674" cy="280690"/>
          </a:xfrm>
          <a:prstGeom prst="rect">
            <a:avLst/>
          </a:prstGeom>
          <a:noFill/>
          <a:ln/>
        </p:spPr>
        <p:txBody>
          <a:bodyPr wrap="none" lIns="0" tIns="0" rIns="0" bIns="0" rtlCol="0" anchor="t"/>
          <a:lstStyle/>
          <a:p>
            <a:pPr marL="0" indent="0" algn="ctr">
              <a:lnSpc>
                <a:spcPct val="104000"/>
              </a:lnSpc>
              <a:buNone/>
            </a:pPr>
            <a:r>
              <a:rPr lang="en-US" sz="1600" b="1" kern="0" spc="-33" dirty="0">
                <a:solidFill>
                  <a:srgbClr val="E0D6DE"/>
                </a:solidFill>
                <a:highlight>
                  <a:srgbClr val="191231"/>
                </a:highlight>
                <a:latin typeface="Consolas" pitchFamily="34" charset="0"/>
                <a:ea typeface="Consolas" pitchFamily="34" charset="-122"/>
                <a:cs typeface="Consolas" pitchFamily="34" charset="-120"/>
              </a:rPr>
              <a:t>do { } while (invalid)</a:t>
            </a:r>
            <a:endParaRPr lang="en-US" sz="1600" dirty="0"/>
          </a:p>
        </p:txBody>
      </p:sp>
      <p:sp>
        <p:nvSpPr>
          <p:cNvPr id="18" name="Text 16"/>
          <p:cNvSpPr/>
          <p:nvPr/>
        </p:nvSpPr>
        <p:spPr>
          <a:xfrm>
            <a:off x="5235642" y="1713508"/>
            <a:ext cx="3927674" cy="470297"/>
          </a:xfrm>
          <a:prstGeom prst="rect">
            <a:avLst/>
          </a:prstGeom>
          <a:noFill/>
          <a:ln/>
        </p:spPr>
        <p:txBody>
          <a:bodyPr wrap="square" lIns="0" tIns="0" rIns="0" bIns="0" rtlCol="0" anchor="t">
            <a:normAutofit/>
          </a:bodyPr>
          <a:lstStyle/>
          <a:p>
            <a:pPr marL="0" indent="0" algn="ctr">
              <a:lnSpc>
                <a:spcPct val="123000"/>
              </a:lnSpc>
              <a:buNone/>
            </a:pPr>
            <a:r>
              <a:rPr lang="en-US" sz="1250" kern="0" spc="-25" dirty="0">
                <a:solidFill>
                  <a:srgbClr val="E0D6DE"/>
                </a:solidFill>
                <a:latin typeface="Inter" pitchFamily="34" charset="0"/>
                <a:ea typeface="Inter" pitchFamily="34" charset="-122"/>
                <a:cs typeface="Inter" pitchFamily="34" charset="-120"/>
              </a:rPr>
              <a:t>Guarantees at least one prompt before re-validating input — ideal for user entry retry</a:t>
            </a:r>
            <a:endParaRPr lang="en-US" sz="1250" dirty="0"/>
          </a:p>
        </p:txBody>
      </p:sp>
      <p:sp>
        <p:nvSpPr>
          <p:cNvPr id="19" name="Shape 17"/>
          <p:cNvSpPr/>
          <p:nvPr/>
        </p:nvSpPr>
        <p:spPr>
          <a:xfrm>
            <a:off x="9397269" y="2821682"/>
            <a:ext cx="19050" cy="478433"/>
          </a:xfrm>
          <a:prstGeom prst="roundRect">
            <a:avLst>
              <a:gd name="adj" fmla="val 49999"/>
            </a:avLst>
          </a:prstGeom>
          <a:solidFill>
            <a:srgbClr val="48367C"/>
          </a:solidFill>
          <a:ln/>
        </p:spPr>
      </p:sp>
      <p:sp>
        <p:nvSpPr>
          <p:cNvPr id="20" name="Shape 18"/>
          <p:cNvSpPr/>
          <p:nvPr/>
        </p:nvSpPr>
        <p:spPr>
          <a:xfrm>
            <a:off x="9227411" y="2642295"/>
            <a:ext cx="358766" cy="358775"/>
          </a:xfrm>
          <a:prstGeom prst="roundRect">
            <a:avLst>
              <a:gd name="adj" fmla="val 18671"/>
            </a:avLst>
          </a:prstGeom>
          <a:solidFill>
            <a:srgbClr val="2F1D63"/>
          </a:solidFill>
          <a:ln w="6350">
            <a:solidFill>
              <a:srgbClr val="48367C"/>
            </a:solidFill>
            <a:prstDash val="solid"/>
          </a:ln>
        </p:spPr>
      </p:sp>
      <p:sp>
        <p:nvSpPr>
          <p:cNvPr id="21" name="Text 19"/>
          <p:cNvSpPr/>
          <p:nvPr/>
        </p:nvSpPr>
        <p:spPr>
          <a:xfrm>
            <a:off x="9281235" y="2664718"/>
            <a:ext cx="251116" cy="313928"/>
          </a:xfrm>
          <a:prstGeom prst="rect">
            <a:avLst/>
          </a:prstGeom>
          <a:noFill/>
          <a:ln/>
        </p:spPr>
        <p:txBody>
          <a:bodyPr wrap="none" lIns="0" tIns="0" rIns="0" bIns="0" rtlCol="0" anchor="ctr"/>
          <a:lstStyle/>
          <a:p>
            <a:pPr marL="0" indent="0" algn="ctr">
              <a:lnSpc>
                <a:spcPct val="100000"/>
              </a:lnSpc>
              <a:buNone/>
            </a:pPr>
            <a:r>
              <a:rPr lang="en-US" sz="1950" b="1" kern="0" spc="-40" dirty="0">
                <a:solidFill>
                  <a:srgbClr val="E0D6DE"/>
                </a:solidFill>
                <a:latin typeface="Petrona Bold" pitchFamily="34" charset="0"/>
                <a:ea typeface="Petrona Bold" pitchFamily="34" charset="-122"/>
                <a:cs typeface="Petrona Bold" pitchFamily="34" charset="-120"/>
              </a:rPr>
              <a:t>4</a:t>
            </a:r>
            <a:endParaRPr lang="en-US" sz="1950" dirty="0"/>
          </a:p>
        </p:txBody>
      </p:sp>
      <p:sp>
        <p:nvSpPr>
          <p:cNvPr id="22" name="Text 20"/>
          <p:cNvSpPr/>
          <p:nvPr/>
        </p:nvSpPr>
        <p:spPr>
          <a:xfrm>
            <a:off x="7443006" y="3459559"/>
            <a:ext cx="3927674" cy="280690"/>
          </a:xfrm>
          <a:prstGeom prst="rect">
            <a:avLst/>
          </a:prstGeom>
          <a:noFill/>
          <a:ln/>
        </p:spPr>
        <p:txBody>
          <a:bodyPr wrap="none" lIns="0" tIns="0" rIns="0" bIns="0" rtlCol="0" anchor="t"/>
          <a:lstStyle/>
          <a:p>
            <a:pPr marL="0" indent="0" algn="ctr">
              <a:lnSpc>
                <a:spcPct val="104000"/>
              </a:lnSpc>
              <a:buNone/>
            </a:pPr>
            <a:r>
              <a:rPr lang="en-US" sz="1600" b="1" kern="0" spc="-33" dirty="0">
                <a:solidFill>
                  <a:srgbClr val="E0D6DE"/>
                </a:solidFill>
                <a:highlight>
                  <a:srgbClr val="191231"/>
                </a:highlight>
                <a:latin typeface="Consolas" pitchFamily="34" charset="0"/>
                <a:ea typeface="Consolas" pitchFamily="34" charset="-122"/>
                <a:cs typeface="Consolas" pitchFamily="34" charset="-120"/>
              </a:rPr>
              <a:t>for</a:t>
            </a:r>
            <a:r>
              <a:rPr lang="en-US" sz="1600" b="1" kern="0" spc="-33" dirty="0">
                <a:solidFill>
                  <a:srgbClr val="E0D6DE"/>
                </a:solidFill>
                <a:latin typeface="Petrona Bold" pitchFamily="34" charset="0"/>
                <a:ea typeface="Petrona Bold" pitchFamily="34" charset="-122"/>
                <a:cs typeface="Petrona Bold" pitchFamily="34" charset="-120"/>
              </a:rPr>
              <a:t> + </a:t>
            </a:r>
            <a:r>
              <a:rPr lang="en-US" sz="1600" b="1" kern="0" spc="-33" dirty="0">
                <a:solidFill>
                  <a:srgbClr val="E0D6DE"/>
                </a:solidFill>
                <a:highlight>
                  <a:srgbClr val="191231"/>
                </a:highlight>
                <a:latin typeface="Consolas" pitchFamily="34" charset="0"/>
                <a:ea typeface="Consolas" pitchFamily="34" charset="-122"/>
                <a:cs typeface="Consolas" pitchFamily="34" charset="-120"/>
              </a:rPr>
              <a:t>continue</a:t>
            </a:r>
            <a:endParaRPr lang="en-US" sz="1600" dirty="0"/>
          </a:p>
        </p:txBody>
      </p:sp>
      <p:sp>
        <p:nvSpPr>
          <p:cNvPr id="23" name="Text 21"/>
          <p:cNvSpPr/>
          <p:nvPr/>
        </p:nvSpPr>
        <p:spPr>
          <a:xfrm>
            <a:off x="7443006" y="3820914"/>
            <a:ext cx="3927674" cy="476647"/>
          </a:xfrm>
          <a:prstGeom prst="rect">
            <a:avLst/>
          </a:prstGeom>
          <a:noFill/>
          <a:ln/>
        </p:spPr>
        <p:txBody>
          <a:bodyPr wrap="square" lIns="0" tIns="0" rIns="0" bIns="0" rtlCol="0" anchor="t">
            <a:normAutofit/>
          </a:bodyPr>
          <a:lstStyle/>
          <a:p>
            <a:pPr marL="0" indent="0" algn="ctr">
              <a:lnSpc>
                <a:spcPct val="123000"/>
              </a:lnSpc>
              <a:buNone/>
            </a:pPr>
            <a:r>
              <a:rPr lang="en-US" sz="1250" kern="0" spc="-25" dirty="0">
                <a:solidFill>
                  <a:srgbClr val="E0D6DE"/>
                </a:solidFill>
                <a:latin typeface="Inter" pitchFamily="34" charset="0"/>
                <a:ea typeface="Inter" pitchFamily="34" charset="-122"/>
                <a:cs typeface="Inter" pitchFamily="34" charset="-120"/>
              </a:rPr>
              <a:t>For loops print products and availability; </a:t>
            </a:r>
            <a:r>
              <a:rPr lang="en-US" sz="1250" kern="0" spc="-25" dirty="0">
                <a:solidFill>
                  <a:srgbClr val="E0D6DE"/>
                </a:solidFill>
                <a:highlight>
                  <a:srgbClr val="191231"/>
                </a:highlight>
                <a:latin typeface="Consolas" pitchFamily="34" charset="0"/>
                <a:ea typeface="Consolas" pitchFamily="34" charset="-122"/>
                <a:cs typeface="Consolas" pitchFamily="34" charset="-120"/>
              </a:rPr>
              <a:t>continue</a:t>
            </a:r>
            <a:r>
              <a:rPr lang="en-US" sz="1250" kern="0" spc="-25" dirty="0">
                <a:solidFill>
                  <a:srgbClr val="E0D6DE"/>
                </a:solidFill>
                <a:latin typeface="Inter" pitchFamily="34" charset="0"/>
                <a:ea typeface="Inter" pitchFamily="34" charset="-122"/>
                <a:cs typeface="Inter" pitchFamily="34" charset="-120"/>
              </a:rPr>
              <a:t> restarts the menu cleanly after a failed sale</a:t>
            </a:r>
            <a:endParaRPr lang="en-US" sz="1250" dirty="0"/>
          </a:p>
        </p:txBody>
      </p:sp>
      <p:sp>
        <p:nvSpPr>
          <p:cNvPr id="24" name="Shape 22"/>
          <p:cNvSpPr/>
          <p:nvPr/>
        </p:nvSpPr>
        <p:spPr>
          <a:xfrm>
            <a:off x="661475" y="4448870"/>
            <a:ext cx="10868745" cy="1849438"/>
          </a:xfrm>
          <a:prstGeom prst="roundRect">
            <a:avLst>
              <a:gd name="adj" fmla="val 3622"/>
            </a:avLst>
          </a:prstGeom>
          <a:solidFill>
            <a:srgbClr val="191231"/>
          </a:solidFill>
          <a:ln/>
        </p:spPr>
      </p:sp>
      <p:sp>
        <p:nvSpPr>
          <p:cNvPr id="25" name="Text 23"/>
          <p:cNvSpPr/>
          <p:nvPr/>
        </p:nvSpPr>
        <p:spPr>
          <a:xfrm>
            <a:off x="852764" y="4608314"/>
            <a:ext cx="10486167" cy="1530548"/>
          </a:xfrm>
          <a:prstGeom prst="rect">
            <a:avLst/>
          </a:prstGeom>
          <a:noFill/>
          <a:ln/>
        </p:spPr>
        <p:txBody>
          <a:bodyPr wrap="square" lIns="0" tIns="0" rIns="0" bIns="0" rtlCol="0" anchor="t">
            <a:normAutofit/>
          </a:bodyPr>
          <a:lstStyle/>
          <a:p>
            <a:pPr marL="0" indent="0" algn="l">
              <a:lnSpc>
                <a:spcPct val="133000"/>
              </a:lnSpc>
              <a:buNone/>
            </a:pPr>
            <a:r>
              <a:rPr lang="en-US" sz="1250" kern="0" spc="-25" dirty="0">
                <a:solidFill>
                  <a:srgbClr val="FF7B72"/>
                </a:solidFill>
                <a:latin typeface="Consolas" pitchFamily="34" charset="0"/>
                <a:ea typeface="Consolas" pitchFamily="34" charset="-122"/>
                <a:cs typeface="Consolas" pitchFamily="34" charset="-120"/>
              </a:rPr>
              <a:t>while (running) {</a:t>
            </a:r>
            <a:endParaRPr lang="en-US" sz="1250" dirty="0"/>
          </a:p>
          <a:p>
            <a:pPr marL="0" indent="0" algn="l">
              <a:lnSpc>
                <a:spcPct val="133000"/>
              </a:lnSpc>
              <a:buNone/>
            </a:pPr>
            <a:r>
              <a:rPr lang="en-US" sz="1250" kern="0" spc="-25" dirty="0">
                <a:solidFill>
                  <a:srgbClr val="FF7B72"/>
                </a:solidFill>
                <a:latin typeface="Consolas" pitchFamily="34" charset="0"/>
                <a:ea typeface="Consolas" pitchFamily="34" charset="-122"/>
                <a:cs typeface="Consolas" pitchFamily="34" charset="-120"/>
              </a:rPr>
              <a:t> displayMenu();</a:t>
            </a:r>
            <a:endParaRPr lang="en-US" sz="1250" dirty="0"/>
          </a:p>
          <a:p>
            <a:pPr marL="0" indent="0" algn="l">
              <a:lnSpc>
                <a:spcPct val="133000"/>
              </a:lnSpc>
              <a:buNone/>
            </a:pPr>
            <a:r>
              <a:rPr lang="en-US" sz="1250" kern="0" spc="-25" dirty="0">
                <a:solidFill>
                  <a:srgbClr val="FF7B72"/>
                </a:solidFill>
                <a:latin typeface="Consolas" pitchFamily="34" charset="0"/>
                <a:ea typeface="Consolas" pitchFamily="34" charset="-122"/>
                <a:cs typeface="Consolas" pitchFamily="34" charset="-120"/>
              </a:rPr>
              <a:t> int choice = scanner.nextInt();</a:t>
            </a:r>
            <a:endParaRPr lang="en-US" sz="1250" dirty="0"/>
          </a:p>
          <a:p>
            <a:pPr marL="0" indent="0" algn="l">
              <a:lnSpc>
                <a:spcPct val="133000"/>
              </a:lnSpc>
              <a:buNone/>
            </a:pPr>
            <a:r>
              <a:rPr lang="en-US" sz="1250" kern="0" spc="-25" dirty="0">
                <a:solidFill>
                  <a:srgbClr val="FF7B72"/>
                </a:solidFill>
                <a:latin typeface="Consolas" pitchFamily="34" charset="0"/>
                <a:ea typeface="Consolas" pitchFamily="34" charset="-122"/>
                <a:cs typeface="Consolas" pitchFamily="34" charset="-120"/>
              </a:rPr>
              <a:t> if (choice == 0) { running = false; continue; }</a:t>
            </a:r>
            <a:endParaRPr lang="en-US" sz="1250" dirty="0"/>
          </a:p>
          <a:p>
            <a:pPr marL="0" indent="0" algn="l">
              <a:lnSpc>
                <a:spcPct val="133000"/>
              </a:lnSpc>
              <a:buNone/>
            </a:pPr>
            <a:r>
              <a:rPr lang="en-US" sz="1250" kern="0" spc="-25" dirty="0">
                <a:solidFill>
                  <a:srgbClr val="FF7B72"/>
                </a:solidFill>
                <a:latin typeface="Consolas" pitchFamily="34" charset="0"/>
                <a:ea typeface="Consolas" pitchFamily="34" charset="-122"/>
                <a:cs typeface="Consolas" pitchFamily="34" charset="-120"/>
              </a:rPr>
              <a:t> processTransaction(choice);</a:t>
            </a:r>
            <a:endParaRPr lang="en-US" sz="1250" dirty="0"/>
          </a:p>
          <a:p>
            <a:pPr marL="0" indent="0" algn="l">
              <a:lnSpc>
                <a:spcPct val="133000"/>
              </a:lnSpc>
              <a:buNone/>
            </a:pPr>
            <a:r>
              <a:rPr lang="en-US" sz="1250" kern="0" spc="-25" dirty="0">
                <a:solidFill>
                  <a:srgbClr val="FF7B72"/>
                </a:solidFill>
                <a:latin typeface="Consolas" pitchFamily="34" charset="0"/>
                <a:ea typeface="Consolas" pitchFamily="34" charset="-122"/>
                <a:cs typeface="Consolas" pitchFamily="34" charset="-120"/>
              </a:rPr>
              <a:t>}</a:t>
            </a:r>
            <a:endParaRPr lang="en-US" sz="1250" dirty="0"/>
          </a:p>
        </p:txBody>
      </p:sp>
      <p:pic>
        <p:nvPicPr>
          <p:cNvPr id="27" name="Picture 26">
            <a:extLst>
              <a:ext uri="{FF2B5EF4-FFF2-40B4-BE49-F238E27FC236}">
                <a16:creationId xmlns:a16="http://schemas.microsoft.com/office/drawing/2014/main" id="{FEA7EED7-588C-CE1C-0B65-7A0AAC202337}"/>
              </a:ext>
            </a:extLst>
          </p:cNvPr>
          <p:cNvPicPr>
            <a:picLocks noChangeAspect="1"/>
          </p:cNvPicPr>
          <p:nvPr/>
        </p:nvPicPr>
        <p:blipFill>
          <a:blip r:embed="rId3"/>
          <a:stretch>
            <a:fillRect/>
          </a:stretch>
        </p:blipFill>
        <p:spPr>
          <a:xfrm>
            <a:off x="10996049" y="0"/>
            <a:ext cx="1195951" cy="4952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5429" y="475256"/>
            <a:ext cx="10868745" cy="610493"/>
          </a:xfrm>
          <a:prstGeom prst="rect">
            <a:avLst/>
          </a:prstGeom>
          <a:noFill/>
          <a:ln/>
        </p:spPr>
        <p:txBody>
          <a:bodyPr wrap="none" lIns="0" tIns="0" rIns="0" bIns="0" rtlCol="0" anchor="t"/>
          <a:lstStyle/>
          <a:p>
            <a:pPr marL="0" indent="0" algn="l">
              <a:lnSpc>
                <a:spcPct val="104000"/>
              </a:lnSpc>
              <a:buNone/>
            </a:pPr>
            <a:r>
              <a:rPr lang="en-US" sz="3800" b="1" kern="0" spc="-77" dirty="0">
                <a:solidFill>
                  <a:srgbClr val="FF8AAF"/>
                </a:solidFill>
                <a:latin typeface="Petrona Bold" pitchFamily="34" charset="0"/>
                <a:ea typeface="Petrona Bold" pitchFamily="34" charset="-122"/>
                <a:cs typeface="Petrona Bold" pitchFamily="34" charset="-120"/>
              </a:rPr>
              <a:t>Conclusion: A Complete Learning Outcome</a:t>
            </a:r>
            <a:endParaRPr lang="en-US" sz="3800" dirty="0"/>
          </a:p>
        </p:txBody>
      </p:sp>
      <p:sp>
        <p:nvSpPr>
          <p:cNvPr id="3" name="Shape 1"/>
          <p:cNvSpPr/>
          <p:nvPr/>
        </p:nvSpPr>
        <p:spPr>
          <a:xfrm>
            <a:off x="661475" y="1641277"/>
            <a:ext cx="1249430" cy="282674"/>
          </a:xfrm>
          <a:prstGeom prst="roundRect">
            <a:avLst>
              <a:gd name="adj" fmla="val 22117"/>
            </a:avLst>
          </a:prstGeom>
          <a:solidFill>
            <a:srgbClr val="1C113B"/>
          </a:solidFill>
          <a:ln/>
        </p:spPr>
      </p:sp>
      <p:sp>
        <p:nvSpPr>
          <p:cNvPr id="4" name="Text 2"/>
          <p:cNvSpPr/>
          <p:nvPr/>
        </p:nvSpPr>
        <p:spPr>
          <a:xfrm>
            <a:off x="773093" y="1697038"/>
            <a:ext cx="1635779" cy="171152"/>
          </a:xfrm>
          <a:prstGeom prst="rect">
            <a:avLst/>
          </a:prstGeom>
          <a:noFill/>
          <a:ln/>
        </p:spPr>
        <p:txBody>
          <a:bodyPr wrap="none" lIns="0" tIns="0" rIns="0" bIns="0" rtlCol="0" anchor="t"/>
          <a:lstStyle/>
          <a:p>
            <a:pPr marL="0" indent="0" algn="l">
              <a:lnSpc>
                <a:spcPct val="96000"/>
              </a:lnSpc>
              <a:buNone/>
            </a:pPr>
            <a:r>
              <a:rPr lang="en-US" sz="1150" kern="0" spc="-29" dirty="0">
                <a:solidFill>
                  <a:srgbClr val="E0D6DE"/>
                </a:solidFill>
                <a:latin typeface="Inter" pitchFamily="34" charset="0"/>
                <a:ea typeface="Inter" pitchFamily="34" charset="-122"/>
                <a:cs typeface="Inter" pitchFamily="34" charset="-120"/>
              </a:rPr>
              <a:t>CO1 ACHIEVED</a:t>
            </a:r>
            <a:endParaRPr lang="en-US" sz="1150" dirty="0"/>
          </a:p>
        </p:txBody>
      </p:sp>
      <p:sp>
        <p:nvSpPr>
          <p:cNvPr id="5" name="Text 3"/>
          <p:cNvSpPr/>
          <p:nvPr/>
        </p:nvSpPr>
        <p:spPr>
          <a:xfrm>
            <a:off x="655429" y="2239973"/>
            <a:ext cx="5207465" cy="305197"/>
          </a:xfrm>
          <a:prstGeom prst="rect">
            <a:avLst/>
          </a:prstGeom>
          <a:noFill/>
          <a:ln/>
        </p:spPr>
        <p:txBody>
          <a:bodyPr wrap="none" lIns="0" tIns="0" rIns="0" bIns="0" rtlCol="0" anchor="t"/>
          <a:lstStyle/>
          <a:p>
            <a:pPr marL="0" indent="0" algn="l">
              <a:lnSpc>
                <a:spcPct val="104000"/>
              </a:lnSpc>
              <a:buNone/>
            </a:pPr>
            <a:r>
              <a:rPr lang="en-US" sz="1900" b="1" kern="0" spc="-38" dirty="0">
                <a:solidFill>
                  <a:srgbClr val="FF8AAF"/>
                </a:solidFill>
                <a:latin typeface="Petrona Bold" pitchFamily="34" charset="0"/>
                <a:ea typeface="Petrona Bold" pitchFamily="34" charset="-122"/>
                <a:cs typeface="Petrona Bold" pitchFamily="34" charset="-120"/>
              </a:rPr>
              <a:t>Problem-Solving &amp; Java Fundamentals</a:t>
            </a:r>
            <a:endParaRPr lang="en-US" sz="1900" dirty="0"/>
          </a:p>
        </p:txBody>
      </p:sp>
      <p:sp>
        <p:nvSpPr>
          <p:cNvPr id="6" name="Text 4"/>
          <p:cNvSpPr/>
          <p:nvPr/>
        </p:nvSpPr>
        <p:spPr>
          <a:xfrm>
            <a:off x="655430" y="2737667"/>
            <a:ext cx="5207465" cy="654645"/>
          </a:xfrm>
          <a:prstGeom prst="rect">
            <a:avLst/>
          </a:prstGeom>
          <a:noFill/>
          <a:ln/>
        </p:spPr>
        <p:txBody>
          <a:bodyPr wrap="square" lIns="0" tIns="0" rIns="0" bIns="0" rtlCol="0" anchor="t">
            <a:normAutofit/>
          </a:bodyPr>
          <a:lstStyle/>
          <a:p>
            <a:pPr marL="294640" indent="-294640" algn="l">
              <a:lnSpc>
                <a:spcPct val="132000"/>
              </a:lnSpc>
              <a:buSzPct val="100000"/>
              <a:buChar char="•"/>
            </a:pPr>
            <a:r>
              <a:rPr lang="en-US" sz="1450" kern="0" spc="-29" dirty="0">
                <a:solidFill>
                  <a:srgbClr val="E0D6DE"/>
                </a:solidFill>
                <a:latin typeface="Inter" pitchFamily="34" charset="0"/>
                <a:ea typeface="Inter" pitchFamily="34" charset="-122"/>
                <a:cs typeface="Inter" pitchFamily="34" charset="-120"/>
              </a:rPr>
              <a:t>Computational decomposition and algorithm design</a:t>
            </a:r>
            <a:endParaRPr lang="en-US" sz="1450" dirty="0"/>
          </a:p>
          <a:p>
            <a:pPr marL="294640" indent="-294640" algn="l">
              <a:lnSpc>
                <a:spcPct val="132000"/>
              </a:lnSpc>
              <a:buSzPct val="100000"/>
              <a:buChar char="•"/>
            </a:pPr>
            <a:r>
              <a:rPr lang="en-US" sz="1450" kern="0" spc="-29" dirty="0">
                <a:solidFill>
                  <a:srgbClr val="E0D6DE"/>
                </a:solidFill>
                <a:latin typeface="Inter" pitchFamily="34" charset="0"/>
                <a:ea typeface="Inter" pitchFamily="34" charset="-122"/>
                <a:cs typeface="Inter" pitchFamily="34" charset="-120"/>
              </a:rPr>
              <a:t>Java data types, expressions, and formatted I/O</a:t>
            </a:r>
            <a:endParaRPr lang="en-US" sz="1450" dirty="0"/>
          </a:p>
        </p:txBody>
      </p:sp>
      <p:sp>
        <p:nvSpPr>
          <p:cNvPr id="7" name="Shape 5"/>
          <p:cNvSpPr/>
          <p:nvPr/>
        </p:nvSpPr>
        <p:spPr>
          <a:xfrm>
            <a:off x="661475" y="3804741"/>
            <a:ext cx="1489058" cy="282674"/>
          </a:xfrm>
          <a:prstGeom prst="roundRect">
            <a:avLst>
              <a:gd name="adj" fmla="val 22117"/>
            </a:avLst>
          </a:prstGeom>
          <a:solidFill>
            <a:srgbClr val="1C113B"/>
          </a:solidFill>
          <a:ln/>
        </p:spPr>
      </p:sp>
      <p:sp>
        <p:nvSpPr>
          <p:cNvPr id="8" name="Text 6"/>
          <p:cNvSpPr/>
          <p:nvPr/>
        </p:nvSpPr>
        <p:spPr>
          <a:xfrm>
            <a:off x="758012" y="3879476"/>
            <a:ext cx="1665940" cy="171152"/>
          </a:xfrm>
          <a:prstGeom prst="rect">
            <a:avLst/>
          </a:prstGeom>
          <a:noFill/>
          <a:ln/>
        </p:spPr>
        <p:txBody>
          <a:bodyPr wrap="none" lIns="0" tIns="0" rIns="0" bIns="0" rtlCol="0" anchor="t"/>
          <a:lstStyle/>
          <a:p>
            <a:pPr marL="0" indent="0" algn="l">
              <a:lnSpc>
                <a:spcPct val="96000"/>
              </a:lnSpc>
              <a:buNone/>
            </a:pPr>
            <a:r>
              <a:rPr lang="en-US" sz="1150" kern="0" spc="-29" dirty="0">
                <a:solidFill>
                  <a:srgbClr val="E0D6DE"/>
                </a:solidFill>
                <a:latin typeface="Inter" pitchFamily="34" charset="0"/>
                <a:ea typeface="Inter" pitchFamily="34" charset="-122"/>
                <a:cs typeface="Inter" pitchFamily="34" charset="-120"/>
              </a:rPr>
              <a:t>CO2,CO3 ACHIEVED</a:t>
            </a:r>
            <a:endParaRPr lang="en-US" sz="1150" dirty="0"/>
          </a:p>
        </p:txBody>
      </p:sp>
      <p:sp>
        <p:nvSpPr>
          <p:cNvPr id="9" name="Text 7"/>
          <p:cNvSpPr/>
          <p:nvPr/>
        </p:nvSpPr>
        <p:spPr>
          <a:xfrm>
            <a:off x="676485" y="4243125"/>
            <a:ext cx="5207465" cy="305197"/>
          </a:xfrm>
          <a:prstGeom prst="rect">
            <a:avLst/>
          </a:prstGeom>
          <a:noFill/>
          <a:ln/>
        </p:spPr>
        <p:txBody>
          <a:bodyPr wrap="none" lIns="0" tIns="0" rIns="0" bIns="0" rtlCol="0" anchor="t"/>
          <a:lstStyle/>
          <a:p>
            <a:pPr marL="0" indent="0" algn="l">
              <a:lnSpc>
                <a:spcPct val="104000"/>
              </a:lnSpc>
              <a:buNone/>
            </a:pPr>
            <a:r>
              <a:rPr lang="en-US" sz="1900" b="1" kern="0" spc="-38" dirty="0">
                <a:solidFill>
                  <a:srgbClr val="FF8AAF"/>
                </a:solidFill>
                <a:latin typeface="Petrona Bold" pitchFamily="34" charset="0"/>
                <a:ea typeface="Petrona Bold" pitchFamily="34" charset="-122"/>
                <a:cs typeface="Petrona Bold" pitchFamily="34" charset="-120"/>
              </a:rPr>
              <a:t>Decisions, Loops &amp; Arrays</a:t>
            </a:r>
            <a:endParaRPr lang="en-US" sz="1900" dirty="0"/>
          </a:p>
        </p:txBody>
      </p:sp>
      <p:sp>
        <p:nvSpPr>
          <p:cNvPr id="10" name="Text 8"/>
          <p:cNvSpPr/>
          <p:nvPr/>
        </p:nvSpPr>
        <p:spPr>
          <a:xfrm>
            <a:off x="661475" y="4768375"/>
            <a:ext cx="5207465" cy="1026716"/>
          </a:xfrm>
          <a:prstGeom prst="rect">
            <a:avLst/>
          </a:prstGeom>
          <a:noFill/>
          <a:ln/>
        </p:spPr>
        <p:txBody>
          <a:bodyPr wrap="square" lIns="0" tIns="0" rIns="0" bIns="0" rtlCol="0" anchor="t">
            <a:normAutofit/>
          </a:bodyPr>
          <a:lstStyle/>
          <a:p>
            <a:pPr marL="294640" indent="-294640" algn="l">
              <a:lnSpc>
                <a:spcPct val="132000"/>
              </a:lnSpc>
              <a:buSzPct val="100000"/>
              <a:buChar char="•"/>
            </a:pPr>
            <a:r>
              <a:rPr lang="en-US" sz="1700" kern="0" spc="-29" dirty="0">
                <a:solidFill>
                  <a:srgbClr val="E0D6DE"/>
                </a:solidFill>
                <a:highlight>
                  <a:srgbClr val="191231"/>
                </a:highlight>
                <a:latin typeface="Consolas" pitchFamily="34" charset="0"/>
                <a:ea typeface="Consolas" pitchFamily="34" charset="-122"/>
                <a:cs typeface="Consolas" pitchFamily="34" charset="-120"/>
              </a:rPr>
              <a:t>if/else</a:t>
            </a:r>
            <a:r>
              <a:rPr lang="en-US" sz="1700" kern="0" spc="-29" dirty="0">
                <a:solidFill>
                  <a:srgbClr val="E0D6DE"/>
                </a:solidFill>
                <a:latin typeface="Inter" pitchFamily="34" charset="0"/>
                <a:ea typeface="Inter" pitchFamily="34" charset="-122"/>
                <a:cs typeface="Inter" pitchFamily="34" charset="-120"/>
              </a:rPr>
              <a:t>, </a:t>
            </a:r>
            <a:r>
              <a:rPr lang="en-US" sz="1700" kern="0" spc="-29" dirty="0">
                <a:solidFill>
                  <a:srgbClr val="E0D6DE"/>
                </a:solidFill>
                <a:highlight>
                  <a:srgbClr val="191231"/>
                </a:highlight>
                <a:latin typeface="Consolas" pitchFamily="34" charset="0"/>
                <a:ea typeface="Consolas" pitchFamily="34" charset="-122"/>
                <a:cs typeface="Consolas" pitchFamily="34" charset="-120"/>
              </a:rPr>
              <a:t>switch</a:t>
            </a:r>
            <a:r>
              <a:rPr lang="en-US" sz="1700" kern="0" spc="-29" dirty="0">
                <a:solidFill>
                  <a:srgbClr val="E0D6DE"/>
                </a:solidFill>
                <a:latin typeface="Inter" pitchFamily="34" charset="0"/>
                <a:ea typeface="Inter" pitchFamily="34" charset="-122"/>
                <a:cs typeface="Inter" pitchFamily="34" charset="-120"/>
              </a:rPr>
              <a:t> with </a:t>
            </a:r>
            <a:r>
              <a:rPr lang="en-US" sz="1700" kern="0" spc="-29" dirty="0">
                <a:solidFill>
                  <a:srgbClr val="E0D6DE"/>
                </a:solidFill>
                <a:highlight>
                  <a:srgbClr val="191231"/>
                </a:highlight>
                <a:latin typeface="Consolas" pitchFamily="34" charset="0"/>
                <a:ea typeface="Consolas" pitchFamily="34" charset="-122"/>
                <a:cs typeface="Consolas" pitchFamily="34" charset="-120"/>
              </a:rPr>
              <a:t>break</a:t>
            </a:r>
            <a:r>
              <a:rPr lang="en-US" sz="1700" kern="0" spc="-29" dirty="0">
                <a:solidFill>
                  <a:srgbClr val="E0D6DE"/>
                </a:solidFill>
                <a:latin typeface="Inter" pitchFamily="34" charset="0"/>
                <a:ea typeface="Inter" pitchFamily="34" charset="-122"/>
                <a:cs typeface="Inter" pitchFamily="34" charset="-120"/>
              </a:rPr>
              <a:t>/</a:t>
            </a:r>
            <a:r>
              <a:rPr lang="en-US" sz="1700" kern="0" spc="-29" dirty="0">
                <a:solidFill>
                  <a:srgbClr val="E0D6DE"/>
                </a:solidFill>
                <a:highlight>
                  <a:srgbClr val="191231"/>
                </a:highlight>
                <a:latin typeface="Consolas" pitchFamily="34" charset="0"/>
                <a:ea typeface="Consolas" pitchFamily="34" charset="-122"/>
                <a:cs typeface="Consolas" pitchFamily="34" charset="-120"/>
              </a:rPr>
              <a:t>default</a:t>
            </a:r>
            <a:endParaRPr lang="en-US" sz="1700" dirty="0"/>
          </a:p>
          <a:p>
            <a:pPr marL="294640" indent="-294640" algn="l">
              <a:lnSpc>
                <a:spcPct val="132000"/>
              </a:lnSpc>
              <a:buSzPct val="100000"/>
              <a:buChar char="•"/>
            </a:pPr>
            <a:r>
              <a:rPr lang="en-US" sz="1700" kern="0" spc="-29" dirty="0">
                <a:solidFill>
                  <a:srgbClr val="E0D6DE"/>
                </a:solidFill>
                <a:highlight>
                  <a:srgbClr val="191231"/>
                </a:highlight>
                <a:latin typeface="Consolas" pitchFamily="34" charset="0"/>
                <a:ea typeface="Consolas" pitchFamily="34" charset="-122"/>
                <a:cs typeface="Consolas" pitchFamily="34" charset="-120"/>
              </a:rPr>
              <a:t>while</a:t>
            </a:r>
            <a:r>
              <a:rPr lang="en-US" sz="1700" kern="0" spc="-29" dirty="0">
                <a:solidFill>
                  <a:srgbClr val="E0D6DE"/>
                </a:solidFill>
                <a:latin typeface="Inter" pitchFamily="34" charset="0"/>
                <a:ea typeface="Inter" pitchFamily="34" charset="-122"/>
                <a:cs typeface="Inter" pitchFamily="34" charset="-120"/>
              </a:rPr>
              <a:t>, </a:t>
            </a:r>
            <a:r>
              <a:rPr lang="en-US" sz="1700" kern="0" spc="-29" dirty="0">
                <a:solidFill>
                  <a:srgbClr val="E0D6DE"/>
                </a:solidFill>
                <a:highlight>
                  <a:srgbClr val="191231"/>
                </a:highlight>
                <a:latin typeface="Consolas" pitchFamily="34" charset="0"/>
                <a:ea typeface="Consolas" pitchFamily="34" charset="-122"/>
                <a:cs typeface="Consolas" pitchFamily="34" charset="-120"/>
              </a:rPr>
              <a:t>do-while</a:t>
            </a:r>
            <a:r>
              <a:rPr lang="en-US" sz="1700" kern="0" spc="-29" dirty="0">
                <a:solidFill>
                  <a:srgbClr val="E0D6DE"/>
                </a:solidFill>
                <a:latin typeface="Inter" pitchFamily="34" charset="0"/>
                <a:ea typeface="Inter" pitchFamily="34" charset="-122"/>
                <a:cs typeface="Inter" pitchFamily="34" charset="-120"/>
              </a:rPr>
              <a:t>, </a:t>
            </a:r>
            <a:r>
              <a:rPr lang="en-US" sz="1700" kern="0" spc="-29" dirty="0">
                <a:solidFill>
                  <a:srgbClr val="E0D6DE"/>
                </a:solidFill>
                <a:highlight>
                  <a:srgbClr val="191231"/>
                </a:highlight>
                <a:latin typeface="Consolas" pitchFamily="34" charset="0"/>
                <a:ea typeface="Consolas" pitchFamily="34" charset="-122"/>
                <a:cs typeface="Consolas" pitchFamily="34" charset="-120"/>
              </a:rPr>
              <a:t>for</a:t>
            </a:r>
            <a:r>
              <a:rPr lang="en-US" sz="1700" kern="0" spc="-29" dirty="0">
                <a:solidFill>
                  <a:srgbClr val="E0D6DE"/>
                </a:solidFill>
                <a:latin typeface="Inter" pitchFamily="34" charset="0"/>
                <a:ea typeface="Inter" pitchFamily="34" charset="-122"/>
                <a:cs typeface="Inter" pitchFamily="34" charset="-120"/>
              </a:rPr>
              <a:t> loops</a:t>
            </a:r>
            <a:endParaRPr lang="en-US" sz="1700" dirty="0"/>
          </a:p>
          <a:p>
            <a:pPr marL="294640" indent="-294640" algn="l">
              <a:lnSpc>
                <a:spcPct val="132000"/>
              </a:lnSpc>
              <a:buSzPct val="100000"/>
              <a:buChar char="•"/>
            </a:pPr>
            <a:r>
              <a:rPr lang="en-US" sz="1700" kern="0" spc="-29" dirty="0">
                <a:solidFill>
                  <a:srgbClr val="E0D6DE"/>
                </a:solidFill>
                <a:latin typeface="Inter" pitchFamily="34" charset="0"/>
                <a:ea typeface="Inter" pitchFamily="34" charset="-122"/>
                <a:cs typeface="Inter" pitchFamily="34" charset="-120"/>
              </a:rPr>
              <a:t>1D and 2D arrays with index-linked data</a:t>
            </a:r>
            <a:endParaRPr lang="en-US" sz="1700" dirty="0"/>
          </a:p>
        </p:txBody>
      </p:sp>
      <p:sp>
        <p:nvSpPr>
          <p:cNvPr id="11" name="Shape 9"/>
          <p:cNvSpPr/>
          <p:nvPr/>
        </p:nvSpPr>
        <p:spPr>
          <a:xfrm>
            <a:off x="6329105" y="1641277"/>
            <a:ext cx="2512156" cy="2355850"/>
          </a:xfrm>
          <a:prstGeom prst="roundRect">
            <a:avLst>
              <a:gd name="adj" fmla="val 3317"/>
            </a:avLst>
          </a:prstGeom>
          <a:solidFill>
            <a:srgbClr val="2F1D63"/>
          </a:solidFill>
          <a:ln w="6350">
            <a:solidFill>
              <a:srgbClr val="48367C"/>
            </a:solidFill>
            <a:prstDash val="solid"/>
          </a:ln>
        </p:spPr>
      </p:sp>
      <p:sp>
        <p:nvSpPr>
          <p:cNvPr id="12" name="Text 10"/>
          <p:cNvSpPr/>
          <p:nvPr/>
        </p:nvSpPr>
        <p:spPr>
          <a:xfrm>
            <a:off x="6521485" y="1833662"/>
            <a:ext cx="2127395" cy="305197"/>
          </a:xfrm>
          <a:prstGeom prst="rect">
            <a:avLst/>
          </a:prstGeom>
          <a:noFill/>
          <a:ln/>
        </p:spPr>
        <p:txBody>
          <a:bodyPr wrap="none" lIns="0" tIns="0" rIns="0" bIns="0" rtlCol="0" anchor="t"/>
          <a:lstStyle/>
          <a:p>
            <a:pPr marL="0" indent="0" algn="l">
              <a:lnSpc>
                <a:spcPct val="104000"/>
              </a:lnSpc>
              <a:buNone/>
            </a:pPr>
            <a:r>
              <a:rPr lang="en-US" sz="1900" b="1" kern="0" spc="-38" dirty="0">
                <a:solidFill>
                  <a:srgbClr val="E0D6DE"/>
                </a:solidFill>
                <a:latin typeface="Petrona Bold" pitchFamily="34" charset="0"/>
                <a:ea typeface="Petrona Bold" pitchFamily="34" charset="-122"/>
                <a:cs typeface="Petrona Bold" pitchFamily="34" charset="-120"/>
              </a:rPr>
              <a:t>Clear Outcomes</a:t>
            </a:r>
            <a:endParaRPr lang="en-US" sz="1900" dirty="0"/>
          </a:p>
        </p:txBody>
      </p:sp>
      <p:sp>
        <p:nvSpPr>
          <p:cNvPr id="13" name="Text 11"/>
          <p:cNvSpPr/>
          <p:nvPr/>
        </p:nvSpPr>
        <p:spPr>
          <a:xfrm>
            <a:off x="6521485" y="2322016"/>
            <a:ext cx="2127395" cy="1476375"/>
          </a:xfrm>
          <a:prstGeom prst="rect">
            <a:avLst/>
          </a:prstGeom>
          <a:noFill/>
          <a:ln/>
        </p:spPr>
        <p:txBody>
          <a:bodyPr wrap="square" lIns="0" tIns="0" rIns="0" bIns="0" rtlCol="0" anchor="t">
            <a:normAutofit/>
          </a:bodyPr>
          <a:lstStyle/>
          <a:p>
            <a:pPr marL="0" indent="0" algn="l">
              <a:lnSpc>
                <a:spcPct val="132000"/>
              </a:lnSpc>
              <a:buNone/>
            </a:pPr>
            <a:r>
              <a:rPr lang="en-US" sz="1450" kern="0" spc="-29" dirty="0">
                <a:solidFill>
                  <a:srgbClr val="E0D6DE"/>
                </a:solidFill>
                <a:latin typeface="Inter" pitchFamily="34" charset="0"/>
                <a:ea typeface="Inter" pitchFamily="34" charset="-122"/>
                <a:cs typeface="Inter" pitchFamily="34" charset="-120"/>
              </a:rPr>
              <a:t>Every run ends in either a successful purchase with change or a specific, informative rejection message</a:t>
            </a:r>
            <a:endParaRPr lang="en-US" sz="1450" dirty="0"/>
          </a:p>
        </p:txBody>
      </p:sp>
      <p:sp>
        <p:nvSpPr>
          <p:cNvPr id="14" name="Shape 12"/>
          <p:cNvSpPr/>
          <p:nvPr/>
        </p:nvSpPr>
        <p:spPr>
          <a:xfrm>
            <a:off x="9024414" y="1641277"/>
            <a:ext cx="2512156" cy="2355850"/>
          </a:xfrm>
          <a:prstGeom prst="roundRect">
            <a:avLst>
              <a:gd name="adj" fmla="val 3317"/>
            </a:avLst>
          </a:prstGeom>
          <a:solidFill>
            <a:srgbClr val="2F1D63"/>
          </a:solidFill>
          <a:ln w="6350">
            <a:solidFill>
              <a:srgbClr val="48367C"/>
            </a:solidFill>
            <a:prstDash val="solid"/>
          </a:ln>
        </p:spPr>
      </p:sp>
      <p:sp>
        <p:nvSpPr>
          <p:cNvPr id="15" name="Text 13"/>
          <p:cNvSpPr/>
          <p:nvPr/>
        </p:nvSpPr>
        <p:spPr>
          <a:xfrm>
            <a:off x="9216794" y="1833662"/>
            <a:ext cx="2127395" cy="305197"/>
          </a:xfrm>
          <a:prstGeom prst="rect">
            <a:avLst/>
          </a:prstGeom>
          <a:noFill/>
          <a:ln/>
        </p:spPr>
        <p:txBody>
          <a:bodyPr wrap="none" lIns="0" tIns="0" rIns="0" bIns="0" rtlCol="0" anchor="t"/>
          <a:lstStyle/>
          <a:p>
            <a:pPr marL="0" indent="0" algn="l">
              <a:lnSpc>
                <a:spcPct val="104000"/>
              </a:lnSpc>
              <a:buNone/>
            </a:pPr>
            <a:r>
              <a:rPr lang="en-US" sz="1900" b="1" kern="0" spc="-38" dirty="0">
                <a:solidFill>
                  <a:srgbClr val="E0D6DE"/>
                </a:solidFill>
                <a:latin typeface="Petrona Bold" pitchFamily="34" charset="0"/>
                <a:ea typeface="Petrona Bold" pitchFamily="34" charset="-122"/>
                <a:cs typeface="Petrona Bold" pitchFamily="34" charset="-120"/>
              </a:rPr>
              <a:t>Next Steps</a:t>
            </a:r>
            <a:endParaRPr lang="en-US" sz="1900" dirty="0"/>
          </a:p>
        </p:txBody>
      </p:sp>
      <p:sp>
        <p:nvSpPr>
          <p:cNvPr id="16" name="Text 14"/>
          <p:cNvSpPr/>
          <p:nvPr/>
        </p:nvSpPr>
        <p:spPr>
          <a:xfrm>
            <a:off x="9216794" y="2322016"/>
            <a:ext cx="2127395" cy="1482725"/>
          </a:xfrm>
          <a:prstGeom prst="rect">
            <a:avLst/>
          </a:prstGeom>
          <a:noFill/>
          <a:ln/>
        </p:spPr>
        <p:txBody>
          <a:bodyPr wrap="square" lIns="0" tIns="0" rIns="0" bIns="0" rtlCol="0" anchor="t">
            <a:normAutofit/>
          </a:bodyPr>
          <a:lstStyle/>
          <a:p>
            <a:pPr marL="0" indent="0" algn="l">
              <a:lnSpc>
                <a:spcPct val="132000"/>
              </a:lnSpc>
              <a:buNone/>
            </a:pPr>
            <a:r>
              <a:rPr lang="en-US" sz="1450" kern="0" spc="-29" dirty="0">
                <a:solidFill>
                  <a:srgbClr val="E0D6DE"/>
                </a:solidFill>
                <a:latin typeface="Inter" pitchFamily="34" charset="0"/>
                <a:ea typeface="Inter" pitchFamily="34" charset="-122"/>
                <a:cs typeface="Inter" pitchFamily="34" charset="-120"/>
              </a:rPr>
              <a:t>Extend with a </a:t>
            </a:r>
            <a:r>
              <a:rPr lang="en-US" sz="1450" kern="0" spc="-29" dirty="0">
                <a:solidFill>
                  <a:srgbClr val="E0D6DE"/>
                </a:solidFill>
                <a:highlight>
                  <a:srgbClr val="191231"/>
                </a:highlight>
                <a:latin typeface="Consolas" pitchFamily="34" charset="0"/>
                <a:ea typeface="Consolas" pitchFamily="34" charset="-122"/>
                <a:cs typeface="Consolas" pitchFamily="34" charset="-120"/>
              </a:rPr>
              <a:t>Product</a:t>
            </a:r>
            <a:r>
              <a:rPr lang="en-US" sz="1450" kern="0" spc="-29" dirty="0">
                <a:solidFill>
                  <a:srgbClr val="E0D6DE"/>
                </a:solidFill>
                <a:latin typeface="Inter" pitchFamily="34" charset="0"/>
                <a:ea typeface="Inter" pitchFamily="34" charset="-122"/>
                <a:cs typeface="Inter" pitchFamily="34" charset="-120"/>
              </a:rPr>
              <a:t> class, multiple payment methods, receipt output, or persistent inventory storage</a:t>
            </a:r>
            <a:endParaRPr lang="en-US" sz="1450" dirty="0"/>
          </a:p>
        </p:txBody>
      </p:sp>
      <p:sp>
        <p:nvSpPr>
          <p:cNvPr id="17" name="Shape 15"/>
          <p:cNvSpPr/>
          <p:nvPr/>
        </p:nvSpPr>
        <p:spPr>
          <a:xfrm>
            <a:off x="6329105" y="4203105"/>
            <a:ext cx="5207465" cy="1898848"/>
          </a:xfrm>
          <a:prstGeom prst="roundRect">
            <a:avLst>
              <a:gd name="adj" fmla="val 4116"/>
            </a:avLst>
          </a:prstGeom>
          <a:solidFill>
            <a:srgbClr val="2F1D63"/>
          </a:solidFill>
          <a:ln/>
        </p:spPr>
      </p:sp>
      <p:pic>
        <p:nvPicPr>
          <p:cNvPr id="18" name="Image 0" descr="preencoded.png"/>
          <p:cNvPicPr>
            <a:picLocks noChangeAspect="1"/>
          </p:cNvPicPr>
          <p:nvPr/>
        </p:nvPicPr>
        <p:blipFill>
          <a:blip r:embed="rId3"/>
          <a:stretch>
            <a:fillRect/>
          </a:stretch>
        </p:blipFill>
        <p:spPr>
          <a:xfrm>
            <a:off x="6515135" y="4479429"/>
            <a:ext cx="232563" cy="186035"/>
          </a:xfrm>
          <a:prstGeom prst="rect">
            <a:avLst/>
          </a:prstGeom>
        </p:spPr>
      </p:pic>
      <p:sp>
        <p:nvSpPr>
          <p:cNvPr id="19" name="Text 16"/>
          <p:cNvSpPr/>
          <p:nvPr/>
        </p:nvSpPr>
        <p:spPr>
          <a:xfrm>
            <a:off x="6933729" y="4414341"/>
            <a:ext cx="4416811" cy="1476375"/>
          </a:xfrm>
          <a:prstGeom prst="rect">
            <a:avLst/>
          </a:prstGeom>
          <a:noFill/>
          <a:ln/>
        </p:spPr>
        <p:txBody>
          <a:bodyPr wrap="square" lIns="0" tIns="0" rIns="0" bIns="0" rtlCol="0" anchor="t">
            <a:normAutofit/>
          </a:bodyPr>
          <a:lstStyle/>
          <a:p>
            <a:pPr marL="0" indent="0" algn="l">
              <a:lnSpc>
                <a:spcPct val="132000"/>
              </a:lnSpc>
              <a:buNone/>
            </a:pPr>
            <a:r>
              <a:rPr lang="en-US" sz="1450" b="1" kern="0" spc="-29" dirty="0">
                <a:solidFill>
                  <a:srgbClr val="FFFFFF"/>
                </a:solidFill>
                <a:latin typeface="Inter Bold" pitchFamily="34" charset="0"/>
                <a:ea typeface="Inter Bold" pitchFamily="34" charset="-122"/>
                <a:cs typeface="Inter Bold" pitchFamily="34" charset="-120"/>
              </a:rPr>
              <a:t>Built for the real world.</a:t>
            </a:r>
            <a:r>
              <a:rPr lang="en-US" sz="1450" kern="0" spc="-29" dirty="0">
                <a:solidFill>
                  <a:srgbClr val="FFFFFF"/>
                </a:solidFill>
                <a:latin typeface="Inter" pitchFamily="34" charset="0"/>
                <a:ea typeface="Inter" pitchFamily="34" charset="-122"/>
                <a:cs typeface="Inter" pitchFamily="34" charset="-120"/>
              </a:rPr>
              <a:t> A vending machine simulator teaches you how everyday software handles choices, payments, inventory, and feedback—skills you can carry into any practical Java project.</a:t>
            </a:r>
            <a:endParaRPr lang="en-US" sz="1450" dirty="0"/>
          </a:p>
        </p:txBody>
      </p:sp>
      <p:pic>
        <p:nvPicPr>
          <p:cNvPr id="21" name="Picture 20">
            <a:extLst>
              <a:ext uri="{FF2B5EF4-FFF2-40B4-BE49-F238E27FC236}">
                <a16:creationId xmlns:a16="http://schemas.microsoft.com/office/drawing/2014/main" id="{4B17893E-156B-65BC-88C8-1C566C11F581}"/>
              </a:ext>
            </a:extLst>
          </p:cNvPr>
          <p:cNvPicPr>
            <a:picLocks noChangeAspect="1"/>
          </p:cNvPicPr>
          <p:nvPr/>
        </p:nvPicPr>
        <p:blipFill>
          <a:blip r:embed="rId4"/>
          <a:stretch>
            <a:fillRect/>
          </a:stretch>
        </p:blipFill>
        <p:spPr>
          <a:xfrm>
            <a:off x="10996049" y="0"/>
            <a:ext cx="1195951" cy="4952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650">
        <p159:morph option="byChar"/>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882</Words>
  <Application>Microsoft Office PowerPoint</Application>
  <PresentationFormat>Widescreen</PresentationFormat>
  <Paragraphs>124</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Inter Bold</vt:lpstr>
      <vt:lpstr>Arial</vt:lpstr>
      <vt:lpstr>Inter</vt:lpstr>
      <vt:lpstr>Times New Roman</vt:lpstr>
      <vt:lpstr>Petrona Bold</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Navadeep</dc:creator>
  <cp:lastModifiedBy>Navadeep Reddy Gurijala</cp:lastModifiedBy>
  <cp:revision>10</cp:revision>
  <dcterms:created xsi:type="dcterms:W3CDTF">2026-09-21T08:07:04Z</dcterms:created>
  <dcterms:modified xsi:type="dcterms:W3CDTF">2026-10-07T04:09:09Z</dcterms:modified>
</cp:coreProperties>
</file>